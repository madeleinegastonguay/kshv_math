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2" r:id="rId2"/>
    <p:sldId id="273" r:id="rId3"/>
    <p:sldId id="274" r:id="rId4"/>
    <p:sldId id="27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partnershealthcare-my.sharepoint.com/personal/jtram_bwh_harvard_edu/Documents/Documents/Project%203_Segregation%20(Franceline)%20paper%20revisions/Segregation%20paper_datas%20from%20J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partnershealthcare-my.sharepoint.com/personal/jtram_bwh_harvard_edu/Documents/Documents/Project%203_Segregation%20(Franceline)%20paper%20revisions/Segregation%20paper_datas%20from%20J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partnershealthcare-my.sharepoint.com/personal/jtram_bwh_harvard_edu/Documents/Documents/Project%203_Segregation%20(Franceline)%20paper%20revisions/Segregation%20paper_datas%20from%20J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partnershealthcare-my.sharepoint.com/personal/jtram_bwh_harvard_edu/Documents/Documents/Project%203_Segregation%20(Franceline)%20paper%20revisions/Segregation%20paper_datas%20from%20J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cap="all" spc="0" baseline="0">
                <a:gradFill>
                  <a:gsLst>
                    <a:gs pos="0">
                      <a:schemeClr val="dk1">
                        <a:lumMod val="50000"/>
                        <a:lumOff val="50000"/>
                      </a:schemeClr>
                    </a:gs>
                    <a:gs pos="100000">
                      <a:schemeClr val="dk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pPr>
            <a:r>
              <a:rPr lang="en-US"/>
              <a:t>brk.219 Cell counts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cap="all" spc="0" baseline="0">
              <a:gradFill>
                <a:gsLst>
                  <a:gs pos="0">
                    <a:schemeClr val="dk1">
                      <a:lumMod val="50000"/>
                      <a:lumOff val="50000"/>
                    </a:schemeClr>
                  </a:gs>
                  <a:gs pos="100000">
                    <a:schemeClr val="dk1">
                      <a:lumMod val="85000"/>
                      <a:lumOff val="15000"/>
                    </a:schemeClr>
                  </a:gs>
                </a:gsLst>
                <a:lin ang="5400000" scaled="0"/>
              </a:gra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19050" cap="rnd" cmpd="sng" algn="ctr">
              <a:solidFill>
                <a:schemeClr val="accent5">
                  <a:shade val="95000"/>
                  <a:satMod val="105000"/>
                </a:schemeClr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l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Brk.219!$A$4:$A$36</c:f>
              <c:strCache>
                <c:ptCount val="33"/>
                <c:pt idx="0">
                  <c:v>d0</c:v>
                </c:pt>
                <c:pt idx="1">
                  <c:v>d1</c:v>
                </c:pt>
                <c:pt idx="2">
                  <c:v>d2</c:v>
                </c:pt>
                <c:pt idx="3">
                  <c:v>d3</c:v>
                </c:pt>
                <c:pt idx="4">
                  <c:v>d4</c:v>
                </c:pt>
                <c:pt idx="5">
                  <c:v>d5</c:v>
                </c:pt>
                <c:pt idx="6">
                  <c:v>d6</c:v>
                </c:pt>
                <c:pt idx="7">
                  <c:v>d7</c:v>
                </c:pt>
                <c:pt idx="8">
                  <c:v>d8</c:v>
                </c:pt>
                <c:pt idx="9">
                  <c:v>d9</c:v>
                </c:pt>
                <c:pt idx="10">
                  <c:v>d10</c:v>
                </c:pt>
                <c:pt idx="11">
                  <c:v>d14</c:v>
                </c:pt>
                <c:pt idx="12">
                  <c:v>d15</c:v>
                </c:pt>
                <c:pt idx="13">
                  <c:v>d16</c:v>
                </c:pt>
                <c:pt idx="14">
                  <c:v>d17</c:v>
                </c:pt>
                <c:pt idx="15">
                  <c:v>d18</c:v>
                </c:pt>
                <c:pt idx="16">
                  <c:v>d21</c:v>
                </c:pt>
                <c:pt idx="17">
                  <c:v>d22</c:v>
                </c:pt>
                <c:pt idx="18">
                  <c:v>d23</c:v>
                </c:pt>
                <c:pt idx="19">
                  <c:v>d24</c:v>
                </c:pt>
                <c:pt idx="20">
                  <c:v>d25</c:v>
                </c:pt>
                <c:pt idx="21">
                  <c:v>d26</c:v>
                </c:pt>
                <c:pt idx="22">
                  <c:v>d26*</c:v>
                </c:pt>
                <c:pt idx="23">
                  <c:v>d29</c:v>
                </c:pt>
                <c:pt idx="24">
                  <c:v>d31</c:v>
                </c:pt>
                <c:pt idx="25">
                  <c:v>d31*</c:v>
                </c:pt>
                <c:pt idx="26">
                  <c:v>d35</c:v>
                </c:pt>
                <c:pt idx="27">
                  <c:v>d36</c:v>
                </c:pt>
                <c:pt idx="28">
                  <c:v>d38</c:v>
                </c:pt>
                <c:pt idx="29">
                  <c:v>d38*</c:v>
                </c:pt>
                <c:pt idx="30">
                  <c:v>d43</c:v>
                </c:pt>
                <c:pt idx="31">
                  <c:v>d43*</c:v>
                </c:pt>
                <c:pt idx="32">
                  <c:v>d45</c:v>
                </c:pt>
              </c:strCache>
            </c:strRef>
          </c:cat>
          <c:val>
            <c:numRef>
              <c:f>Brk.219!$B$4:$B$36</c:f>
              <c:numCache>
                <c:formatCode>General</c:formatCode>
                <c:ptCount val="33"/>
                <c:pt idx="0">
                  <c:v>1</c:v>
                </c:pt>
                <c:pt idx="1">
                  <c:v>1.65</c:v>
                </c:pt>
                <c:pt idx="2">
                  <c:v>2.2000000000000002</c:v>
                </c:pt>
                <c:pt idx="3">
                  <c:v>7</c:v>
                </c:pt>
                <c:pt idx="4">
                  <c:v>11</c:v>
                </c:pt>
                <c:pt idx="5">
                  <c:v>1.1000000000000001</c:v>
                </c:pt>
                <c:pt idx="6">
                  <c:v>2.15</c:v>
                </c:pt>
                <c:pt idx="7">
                  <c:v>6.15</c:v>
                </c:pt>
                <c:pt idx="8">
                  <c:v>8.25</c:v>
                </c:pt>
                <c:pt idx="9">
                  <c:v>12</c:v>
                </c:pt>
                <c:pt idx="10">
                  <c:v>1.35</c:v>
                </c:pt>
                <c:pt idx="11">
                  <c:v>9.35</c:v>
                </c:pt>
                <c:pt idx="12">
                  <c:v>9.3000000000000007</c:v>
                </c:pt>
                <c:pt idx="13">
                  <c:v>1</c:v>
                </c:pt>
                <c:pt idx="14">
                  <c:v>1.3</c:v>
                </c:pt>
                <c:pt idx="15">
                  <c:v>5</c:v>
                </c:pt>
                <c:pt idx="16">
                  <c:v>10.25</c:v>
                </c:pt>
                <c:pt idx="17">
                  <c:v>1.2</c:v>
                </c:pt>
                <c:pt idx="18">
                  <c:v>1.05</c:v>
                </c:pt>
                <c:pt idx="19">
                  <c:v>2.2999999999999998</c:v>
                </c:pt>
                <c:pt idx="20">
                  <c:v>8.15</c:v>
                </c:pt>
                <c:pt idx="21">
                  <c:v>8</c:v>
                </c:pt>
                <c:pt idx="22">
                  <c:v>1</c:v>
                </c:pt>
                <c:pt idx="23">
                  <c:v>6.9</c:v>
                </c:pt>
                <c:pt idx="24">
                  <c:v>9.85</c:v>
                </c:pt>
                <c:pt idx="25">
                  <c:v>1</c:v>
                </c:pt>
                <c:pt idx="26">
                  <c:v>4.8499999999999996</c:v>
                </c:pt>
                <c:pt idx="27">
                  <c:v>11.8</c:v>
                </c:pt>
                <c:pt idx="28">
                  <c:v>16.55</c:v>
                </c:pt>
                <c:pt idx="29">
                  <c:v>1</c:v>
                </c:pt>
                <c:pt idx="30">
                  <c:v>15.55</c:v>
                </c:pt>
                <c:pt idx="31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D1D-423C-9F70-B68167E3B2D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742850559"/>
        <c:axId val="1742847199"/>
      </c:lineChart>
      <c:catAx>
        <c:axId val="174285055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100"/>
                  <a:t>Days post selection removal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42847199"/>
        <c:crosses val="autoZero"/>
        <c:auto val="1"/>
        <c:lblAlgn val="ctr"/>
        <c:lblOffset val="100"/>
        <c:noMultiLvlLbl val="0"/>
      </c:catAx>
      <c:valAx>
        <c:axId val="1742847199"/>
        <c:scaling>
          <c:orientation val="minMax"/>
        </c:scaling>
        <c:delete val="0"/>
        <c:axPos val="l"/>
        <c:majorGridlines>
          <c:spPr>
            <a:ln>
              <a:solidFill>
                <a:schemeClr val="dk1">
                  <a:lumMod val="15000"/>
                  <a:lumOff val="85000"/>
                </a:schemeClr>
              </a:solidFill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100"/>
                  <a:t>Cell concentration (.10^5</a:t>
                </a:r>
                <a:r>
                  <a:rPr lang="en-US" sz="1100" baseline="0"/>
                  <a:t> c/mL)</a:t>
                </a:r>
                <a:endParaRPr lang="en-US" sz="11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428505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/>
              <a:t>Brk.219</a:t>
            </a:r>
            <a:r>
              <a:rPr lang="en-US" sz="1600" baseline="0"/>
              <a:t> GFP level</a:t>
            </a:r>
            <a:endParaRPr lang="en-US" sz="16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Brk.219!$P$3</c:f>
              <c:strCache>
                <c:ptCount val="1"/>
                <c:pt idx="0">
                  <c:v>%GFP+ in Live cells</c:v>
                </c:pt>
              </c:strCache>
            </c:strRef>
          </c:tx>
          <c:spPr>
            <a:solidFill>
              <a:schemeClr val="accent6">
                <a:shade val="76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Brk.219!$O$4:$O$32</c:f>
              <c:strCache>
                <c:ptCount val="29"/>
                <c:pt idx="0">
                  <c:v>d0</c:v>
                </c:pt>
                <c:pt idx="1">
                  <c:v>d1</c:v>
                </c:pt>
                <c:pt idx="2">
                  <c:v>d2</c:v>
                </c:pt>
                <c:pt idx="3">
                  <c:v>d3</c:v>
                </c:pt>
                <c:pt idx="4">
                  <c:v>d4</c:v>
                </c:pt>
                <c:pt idx="5">
                  <c:v>d5</c:v>
                </c:pt>
                <c:pt idx="6">
                  <c:v>d6</c:v>
                </c:pt>
                <c:pt idx="7">
                  <c:v>d7</c:v>
                </c:pt>
                <c:pt idx="8">
                  <c:v>d8</c:v>
                </c:pt>
                <c:pt idx="9">
                  <c:v>d9</c:v>
                </c:pt>
                <c:pt idx="10">
                  <c:v>d10</c:v>
                </c:pt>
                <c:pt idx="11">
                  <c:v>d14</c:v>
                </c:pt>
                <c:pt idx="12">
                  <c:v>d15</c:v>
                </c:pt>
                <c:pt idx="13">
                  <c:v>d16</c:v>
                </c:pt>
                <c:pt idx="14">
                  <c:v>d17</c:v>
                </c:pt>
                <c:pt idx="15">
                  <c:v>d18</c:v>
                </c:pt>
                <c:pt idx="16">
                  <c:v>d21</c:v>
                </c:pt>
                <c:pt idx="17">
                  <c:v>d22</c:v>
                </c:pt>
                <c:pt idx="18">
                  <c:v>d23</c:v>
                </c:pt>
                <c:pt idx="19">
                  <c:v>d24</c:v>
                </c:pt>
                <c:pt idx="20">
                  <c:v>d25</c:v>
                </c:pt>
                <c:pt idx="21">
                  <c:v>d26</c:v>
                </c:pt>
                <c:pt idx="22">
                  <c:v>d29</c:v>
                </c:pt>
                <c:pt idx="23">
                  <c:v>d31</c:v>
                </c:pt>
                <c:pt idx="24">
                  <c:v>d35</c:v>
                </c:pt>
                <c:pt idx="25">
                  <c:v>d36</c:v>
                </c:pt>
                <c:pt idx="26">
                  <c:v>d38</c:v>
                </c:pt>
                <c:pt idx="27">
                  <c:v>d43</c:v>
                </c:pt>
                <c:pt idx="28">
                  <c:v>d45</c:v>
                </c:pt>
              </c:strCache>
            </c:strRef>
          </c:cat>
          <c:val>
            <c:numRef>
              <c:f>Brk.219!$P$4:$P$32</c:f>
              <c:numCache>
                <c:formatCode>General</c:formatCode>
                <c:ptCount val="29"/>
                <c:pt idx="0">
                  <c:v>98</c:v>
                </c:pt>
                <c:pt idx="1">
                  <c:v>98.7</c:v>
                </c:pt>
                <c:pt idx="2">
                  <c:v>99.6</c:v>
                </c:pt>
                <c:pt idx="3">
                  <c:v>98.8</c:v>
                </c:pt>
                <c:pt idx="4">
                  <c:v>98.5</c:v>
                </c:pt>
                <c:pt idx="5">
                  <c:v>98.6</c:v>
                </c:pt>
                <c:pt idx="6">
                  <c:v>98.5</c:v>
                </c:pt>
                <c:pt idx="7">
                  <c:v>97.4</c:v>
                </c:pt>
                <c:pt idx="8">
                  <c:v>96.9</c:v>
                </c:pt>
                <c:pt idx="9">
                  <c:v>95.2</c:v>
                </c:pt>
                <c:pt idx="10">
                  <c:v>92.3</c:v>
                </c:pt>
                <c:pt idx="11">
                  <c:v>93.1</c:v>
                </c:pt>
                <c:pt idx="12">
                  <c:v>93.1</c:v>
                </c:pt>
                <c:pt idx="13">
                  <c:v>93.3</c:v>
                </c:pt>
                <c:pt idx="14">
                  <c:v>91.7</c:v>
                </c:pt>
                <c:pt idx="15">
                  <c:v>93.8</c:v>
                </c:pt>
                <c:pt idx="16">
                  <c:v>86.7</c:v>
                </c:pt>
                <c:pt idx="17">
                  <c:v>88.4</c:v>
                </c:pt>
                <c:pt idx="18">
                  <c:v>88.8</c:v>
                </c:pt>
                <c:pt idx="19">
                  <c:v>89.4</c:v>
                </c:pt>
                <c:pt idx="20">
                  <c:v>88.6</c:v>
                </c:pt>
                <c:pt idx="21">
                  <c:v>83.4</c:v>
                </c:pt>
                <c:pt idx="22">
                  <c:v>83.3</c:v>
                </c:pt>
                <c:pt idx="23">
                  <c:v>76.7</c:v>
                </c:pt>
                <c:pt idx="24">
                  <c:v>78.3</c:v>
                </c:pt>
                <c:pt idx="25">
                  <c:v>74.5</c:v>
                </c:pt>
                <c:pt idx="26">
                  <c:v>72.400000000000006</c:v>
                </c:pt>
                <c:pt idx="27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95-4D35-87E7-97CF5216E9C9}"/>
            </c:ext>
          </c:extLst>
        </c:ser>
        <c:ser>
          <c:idx val="1"/>
          <c:order val="1"/>
          <c:tx>
            <c:strRef>
              <c:f>Brk.219!$Q$3</c:f>
              <c:strCache>
                <c:ptCount val="1"/>
                <c:pt idx="0">
                  <c:v>%GFP- in Live cells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Lbl>
              <c:idx val="7"/>
              <c:layout>
                <c:manualLayout>
                  <c:x val="0"/>
                  <c:y val="-3.11619509099824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395-4D35-87E7-97CF5216E9C9}"/>
                </c:ext>
              </c:extLst>
            </c:dLbl>
            <c:dLbl>
              <c:idx val="8"/>
              <c:layout>
                <c:manualLayout>
                  <c:x val="-6.9740822831562922E-17"/>
                  <c:y val="-2.9744512705142626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395-4D35-87E7-97CF5216E9C9}"/>
                </c:ext>
              </c:extLst>
            </c:dLbl>
            <c:dLbl>
              <c:idx val="9"/>
              <c:layout>
                <c:manualLayout>
                  <c:x val="6.9740822831562922E-17"/>
                  <c:y val="-3.644221395402497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395-4D35-87E7-97CF5216E9C9}"/>
                </c:ext>
              </c:extLst>
            </c:dLbl>
            <c:dLbl>
              <c:idx val="10"/>
              <c:layout>
                <c:manualLayout>
                  <c:x val="0"/>
                  <c:y val="-3.382723313431974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395-4D35-87E7-97CF5216E9C9}"/>
                </c:ext>
              </c:extLst>
            </c:dLbl>
            <c:dLbl>
              <c:idx val="11"/>
              <c:layout>
                <c:manualLayout>
                  <c:x val="0"/>
                  <c:y val="-4.233209310374665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395-4D35-87E7-97CF5216E9C9}"/>
                </c:ext>
              </c:extLst>
            </c:dLbl>
            <c:dLbl>
              <c:idx val="12"/>
              <c:layout>
                <c:manualLayout>
                  <c:x val="0"/>
                  <c:y val="-4.342787920740678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395-4D35-87E7-97CF5216E9C9}"/>
                </c:ext>
              </c:extLst>
            </c:dLbl>
            <c:dLbl>
              <c:idx val="13"/>
              <c:layout>
                <c:manualLayout>
                  <c:x val="0"/>
                  <c:y val="-4.1998673242767744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395-4D35-87E7-97CF5216E9C9}"/>
                </c:ext>
              </c:extLst>
            </c:dLbl>
            <c:dLbl>
              <c:idx val="14"/>
              <c:layout>
                <c:manualLayout>
                  <c:x val="-1.9020444131863498E-3"/>
                  <c:y val="-4.15616509474777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395-4D35-87E7-97CF5216E9C9}"/>
                </c:ext>
              </c:extLst>
            </c:dLbl>
            <c:dLbl>
              <c:idx val="15"/>
              <c:layout>
                <c:manualLayout>
                  <c:x val="0"/>
                  <c:y val="-3.919886937209773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395-4D35-87E7-97CF5216E9C9}"/>
                </c:ext>
              </c:extLst>
            </c:dLbl>
            <c:dLbl>
              <c:idx val="16"/>
              <c:layout>
                <c:manualLayout>
                  <c:x val="0"/>
                  <c:y val="-5.744605001297915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395-4D35-87E7-97CF5216E9C9}"/>
                </c:ext>
              </c:extLst>
            </c:dLbl>
            <c:dLbl>
              <c:idx val="17"/>
              <c:layout>
                <c:manualLayout>
                  <c:x val="-1.3917882956302999E-3"/>
                  <c:y val="-5.422168382798305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395-4D35-87E7-97CF5216E9C9}"/>
                </c:ext>
              </c:extLst>
            </c:dLbl>
            <c:dLbl>
              <c:idx val="18"/>
              <c:layout>
                <c:manualLayout>
                  <c:x val="0"/>
                  <c:y val="-5.2054339361425991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395-4D35-87E7-97CF5216E9C9}"/>
                </c:ext>
              </c:extLst>
            </c:dLbl>
            <c:dLbl>
              <c:idx val="19"/>
              <c:layout>
                <c:manualLayout>
                  <c:x val="-1.0206329596898421E-16"/>
                  <c:y val="-5.0695278474806031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3395-4D35-87E7-97CF5216E9C9}"/>
                </c:ext>
              </c:extLst>
            </c:dLbl>
            <c:dLbl>
              <c:idx val="20"/>
              <c:layout>
                <c:manualLayout>
                  <c:x val="-1.3917882956301978E-3"/>
                  <c:y val="-5.4295520752213666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3395-4D35-87E7-97CF5216E9C9}"/>
                </c:ext>
              </c:extLst>
            </c:dLbl>
            <c:dLbl>
              <c:idx val="21"/>
              <c:layout>
                <c:manualLayout>
                  <c:x val="-2.0412659193796843E-16"/>
                  <c:y val="-7.418326555334429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3395-4D35-87E7-97CF5216E9C9}"/>
                </c:ext>
              </c:extLst>
            </c:dLbl>
            <c:dLbl>
              <c:idx val="22"/>
              <c:layout>
                <c:manualLayout>
                  <c:x val="0"/>
                  <c:y val="-7.148752559776182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3395-4D35-87E7-97CF5216E9C9}"/>
                </c:ext>
              </c:extLst>
            </c:dLbl>
            <c:dLbl>
              <c:idx val="23"/>
              <c:layout>
                <c:manualLayout>
                  <c:x val="0"/>
                  <c:y val="-9.5049694130699414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3395-4D35-87E7-97CF5216E9C9}"/>
                </c:ext>
              </c:extLst>
            </c:dLbl>
            <c:dLbl>
              <c:idx val="24"/>
              <c:layout>
                <c:manualLayout>
                  <c:x val="-2.0238960295405566E-16"/>
                  <c:y val="-9.2324776150238111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3395-4D35-87E7-97CF5216E9C9}"/>
                </c:ext>
              </c:extLst>
            </c:dLbl>
            <c:dLbl>
              <c:idx val="25"/>
              <c:layout>
                <c:manualLayout>
                  <c:x val="-1.0222337022441163E-16"/>
                  <c:y val="-0.1029185540996564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3395-4D35-87E7-97CF5216E9C9}"/>
                </c:ext>
              </c:extLst>
            </c:dLbl>
            <c:dLbl>
              <c:idx val="26"/>
              <c:layout>
                <c:manualLayout>
                  <c:x val="-2.0238960295405566E-16"/>
                  <c:y val="-0.1127587595784622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3395-4D35-87E7-97CF5216E9C9}"/>
                </c:ext>
              </c:extLst>
            </c:dLbl>
            <c:dLbl>
              <c:idx val="27"/>
              <c:layout>
                <c:manualLayout>
                  <c:x val="-1.3799450521094266E-3"/>
                  <c:y val="-0.1217833506676235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3395-4D35-87E7-97CF5216E9C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Brk.219!$O$4:$O$32</c:f>
              <c:strCache>
                <c:ptCount val="29"/>
                <c:pt idx="0">
                  <c:v>d0</c:v>
                </c:pt>
                <c:pt idx="1">
                  <c:v>d1</c:v>
                </c:pt>
                <c:pt idx="2">
                  <c:v>d2</c:v>
                </c:pt>
                <c:pt idx="3">
                  <c:v>d3</c:v>
                </c:pt>
                <c:pt idx="4">
                  <c:v>d4</c:v>
                </c:pt>
                <c:pt idx="5">
                  <c:v>d5</c:v>
                </c:pt>
                <c:pt idx="6">
                  <c:v>d6</c:v>
                </c:pt>
                <c:pt idx="7">
                  <c:v>d7</c:v>
                </c:pt>
                <c:pt idx="8">
                  <c:v>d8</c:v>
                </c:pt>
                <c:pt idx="9">
                  <c:v>d9</c:v>
                </c:pt>
                <c:pt idx="10">
                  <c:v>d10</c:v>
                </c:pt>
                <c:pt idx="11">
                  <c:v>d14</c:v>
                </c:pt>
                <c:pt idx="12">
                  <c:v>d15</c:v>
                </c:pt>
                <c:pt idx="13">
                  <c:v>d16</c:v>
                </c:pt>
                <c:pt idx="14">
                  <c:v>d17</c:v>
                </c:pt>
                <c:pt idx="15">
                  <c:v>d18</c:v>
                </c:pt>
                <c:pt idx="16">
                  <c:v>d21</c:v>
                </c:pt>
                <c:pt idx="17">
                  <c:v>d22</c:v>
                </c:pt>
                <c:pt idx="18">
                  <c:v>d23</c:v>
                </c:pt>
                <c:pt idx="19">
                  <c:v>d24</c:v>
                </c:pt>
                <c:pt idx="20">
                  <c:v>d25</c:v>
                </c:pt>
                <c:pt idx="21">
                  <c:v>d26</c:v>
                </c:pt>
                <c:pt idx="22">
                  <c:v>d29</c:v>
                </c:pt>
                <c:pt idx="23">
                  <c:v>d31</c:v>
                </c:pt>
                <c:pt idx="24">
                  <c:v>d35</c:v>
                </c:pt>
                <c:pt idx="25">
                  <c:v>d36</c:v>
                </c:pt>
                <c:pt idx="26">
                  <c:v>d38</c:v>
                </c:pt>
                <c:pt idx="27">
                  <c:v>d43</c:v>
                </c:pt>
                <c:pt idx="28">
                  <c:v>d45</c:v>
                </c:pt>
              </c:strCache>
            </c:strRef>
          </c:cat>
          <c:val>
            <c:numRef>
              <c:f>Brk.219!$Q$4:$Q$32</c:f>
              <c:numCache>
                <c:formatCode>General</c:formatCode>
                <c:ptCount val="29"/>
                <c:pt idx="0">
                  <c:v>0.37</c:v>
                </c:pt>
                <c:pt idx="1">
                  <c:v>0.37</c:v>
                </c:pt>
                <c:pt idx="2">
                  <c:v>0.27</c:v>
                </c:pt>
                <c:pt idx="3">
                  <c:v>0.87</c:v>
                </c:pt>
                <c:pt idx="4">
                  <c:v>1.1000000000000001</c:v>
                </c:pt>
                <c:pt idx="5">
                  <c:v>1.21</c:v>
                </c:pt>
                <c:pt idx="6">
                  <c:v>1.1100000000000001</c:v>
                </c:pt>
                <c:pt idx="7">
                  <c:v>2.0099999999999998</c:v>
                </c:pt>
                <c:pt idx="8">
                  <c:v>2.42</c:v>
                </c:pt>
                <c:pt idx="9">
                  <c:v>3.87</c:v>
                </c:pt>
                <c:pt idx="10">
                  <c:v>3.66</c:v>
                </c:pt>
                <c:pt idx="11">
                  <c:v>6.44</c:v>
                </c:pt>
                <c:pt idx="12">
                  <c:v>6.1</c:v>
                </c:pt>
                <c:pt idx="13">
                  <c:v>5.65</c:v>
                </c:pt>
                <c:pt idx="14">
                  <c:v>6.58</c:v>
                </c:pt>
                <c:pt idx="15">
                  <c:v>5.64</c:v>
                </c:pt>
                <c:pt idx="16">
                  <c:v>12.2</c:v>
                </c:pt>
                <c:pt idx="17">
                  <c:v>10.6</c:v>
                </c:pt>
                <c:pt idx="18">
                  <c:v>10.4</c:v>
                </c:pt>
                <c:pt idx="19">
                  <c:v>9.9600000000000009</c:v>
                </c:pt>
                <c:pt idx="20">
                  <c:v>10.6</c:v>
                </c:pt>
                <c:pt idx="21">
                  <c:v>15.9</c:v>
                </c:pt>
                <c:pt idx="22">
                  <c:v>15.8</c:v>
                </c:pt>
                <c:pt idx="23">
                  <c:v>22.4</c:v>
                </c:pt>
                <c:pt idx="24">
                  <c:v>21</c:v>
                </c:pt>
                <c:pt idx="25">
                  <c:v>24.4</c:v>
                </c:pt>
                <c:pt idx="26">
                  <c:v>26.8</c:v>
                </c:pt>
                <c:pt idx="27">
                  <c:v>29.1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3395-4D35-87E7-97CF5216E9C9}"/>
            </c:ext>
          </c:extLst>
        </c:ser>
        <c:dLbls>
          <c:dLblPos val="inBase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180502912"/>
        <c:axId val="1180495712"/>
      </c:barChart>
      <c:catAx>
        <c:axId val="118050291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Days post selection removal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80495712"/>
        <c:crosses val="autoZero"/>
        <c:auto val="1"/>
        <c:lblAlgn val="ctr"/>
        <c:lblOffset val="100"/>
        <c:noMultiLvlLbl val="0"/>
      </c:catAx>
      <c:valAx>
        <c:axId val="1180495712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/>
                  <a:t>%GFP</a:t>
                </a:r>
                <a:r>
                  <a:rPr lang="en-US" sz="1200" baseline="0"/>
                  <a:t> of live cells</a:t>
                </a:r>
                <a:endParaRPr lang="en-US" sz="12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805029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/>
              <a:t>BrK.219</a:t>
            </a:r>
            <a:r>
              <a:rPr lang="en-US" sz="1600" baseline="0"/>
              <a:t> GFP Mean &amp; Median</a:t>
            </a:r>
            <a:endParaRPr lang="en-US" sz="16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Brk.219!$R$3</c:f>
              <c:strCache>
                <c:ptCount val="1"/>
                <c:pt idx="0">
                  <c:v>Mean GFP in Live cells</c:v>
                </c:pt>
              </c:strCache>
            </c:strRef>
          </c:tx>
          <c:spPr>
            <a:ln w="28575" cap="rnd">
              <a:solidFill>
                <a:schemeClr val="accent5">
                  <a:shade val="76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>
                  <a:shade val="76000"/>
                </a:schemeClr>
              </a:solidFill>
              <a:ln w="9525">
                <a:solidFill>
                  <a:schemeClr val="accent5">
                    <a:shade val="76000"/>
                  </a:schemeClr>
                </a:solidFill>
              </a:ln>
              <a:effectLst/>
            </c:spPr>
          </c:marker>
          <c:cat>
            <c:strRef>
              <c:f>Brk.219!$O$4:$O$32</c:f>
              <c:strCache>
                <c:ptCount val="29"/>
                <c:pt idx="0">
                  <c:v>d0</c:v>
                </c:pt>
                <c:pt idx="1">
                  <c:v>d1</c:v>
                </c:pt>
                <c:pt idx="2">
                  <c:v>d2</c:v>
                </c:pt>
                <c:pt idx="3">
                  <c:v>d3</c:v>
                </c:pt>
                <c:pt idx="4">
                  <c:v>d4</c:v>
                </c:pt>
                <c:pt idx="5">
                  <c:v>d5</c:v>
                </c:pt>
                <c:pt idx="6">
                  <c:v>d6</c:v>
                </c:pt>
                <c:pt idx="7">
                  <c:v>d7</c:v>
                </c:pt>
                <c:pt idx="8">
                  <c:v>d8</c:v>
                </c:pt>
                <c:pt idx="9">
                  <c:v>d9</c:v>
                </c:pt>
                <c:pt idx="10">
                  <c:v>d10</c:v>
                </c:pt>
                <c:pt idx="11">
                  <c:v>d14</c:v>
                </c:pt>
                <c:pt idx="12">
                  <c:v>d15</c:v>
                </c:pt>
                <c:pt idx="13">
                  <c:v>d16</c:v>
                </c:pt>
                <c:pt idx="14">
                  <c:v>d17</c:v>
                </c:pt>
                <c:pt idx="15">
                  <c:v>d18</c:v>
                </c:pt>
                <c:pt idx="16">
                  <c:v>d21</c:v>
                </c:pt>
                <c:pt idx="17">
                  <c:v>d22</c:v>
                </c:pt>
                <c:pt idx="18">
                  <c:v>d23</c:v>
                </c:pt>
                <c:pt idx="19">
                  <c:v>d24</c:v>
                </c:pt>
                <c:pt idx="20">
                  <c:v>d25</c:v>
                </c:pt>
                <c:pt idx="21">
                  <c:v>d26</c:v>
                </c:pt>
                <c:pt idx="22">
                  <c:v>d29</c:v>
                </c:pt>
                <c:pt idx="23">
                  <c:v>d31</c:v>
                </c:pt>
                <c:pt idx="24">
                  <c:v>d35</c:v>
                </c:pt>
                <c:pt idx="25">
                  <c:v>d36</c:v>
                </c:pt>
                <c:pt idx="26">
                  <c:v>d38</c:v>
                </c:pt>
                <c:pt idx="27">
                  <c:v>d43</c:v>
                </c:pt>
                <c:pt idx="28">
                  <c:v>d45</c:v>
                </c:pt>
              </c:strCache>
            </c:strRef>
          </c:cat>
          <c:val>
            <c:numRef>
              <c:f>Brk.219!$R$4:$R$32</c:f>
              <c:numCache>
                <c:formatCode>0.00E+00</c:formatCode>
                <c:ptCount val="29"/>
                <c:pt idx="0">
                  <c:v>4140000</c:v>
                </c:pt>
                <c:pt idx="1">
                  <c:v>4500000</c:v>
                </c:pt>
                <c:pt idx="2">
                  <c:v>4420000</c:v>
                </c:pt>
                <c:pt idx="3">
                  <c:v>4270000</c:v>
                </c:pt>
                <c:pt idx="4">
                  <c:v>3910000</c:v>
                </c:pt>
                <c:pt idx="5">
                  <c:v>4330000</c:v>
                </c:pt>
                <c:pt idx="6">
                  <c:v>4250000</c:v>
                </c:pt>
                <c:pt idx="7">
                  <c:v>4170000</c:v>
                </c:pt>
                <c:pt idx="8">
                  <c:v>3920000</c:v>
                </c:pt>
                <c:pt idx="9">
                  <c:v>3630000</c:v>
                </c:pt>
                <c:pt idx="10">
                  <c:v>3680000</c:v>
                </c:pt>
                <c:pt idx="11">
                  <c:v>3120000</c:v>
                </c:pt>
                <c:pt idx="12">
                  <c:v>3630000</c:v>
                </c:pt>
                <c:pt idx="13">
                  <c:v>3610000</c:v>
                </c:pt>
                <c:pt idx="14">
                  <c:v>3650000</c:v>
                </c:pt>
                <c:pt idx="15">
                  <c:v>3750000</c:v>
                </c:pt>
                <c:pt idx="16">
                  <c:v>2900000</c:v>
                </c:pt>
                <c:pt idx="17">
                  <c:v>3110000</c:v>
                </c:pt>
                <c:pt idx="18">
                  <c:v>3320000</c:v>
                </c:pt>
                <c:pt idx="19">
                  <c:v>3320000</c:v>
                </c:pt>
                <c:pt idx="20">
                  <c:v>3310000</c:v>
                </c:pt>
                <c:pt idx="21">
                  <c:v>2420000</c:v>
                </c:pt>
                <c:pt idx="22">
                  <c:v>2900000</c:v>
                </c:pt>
                <c:pt idx="23">
                  <c:v>2510000</c:v>
                </c:pt>
                <c:pt idx="24">
                  <c:v>2550000</c:v>
                </c:pt>
                <c:pt idx="25">
                  <c:v>2340000</c:v>
                </c:pt>
                <c:pt idx="26">
                  <c:v>2240000</c:v>
                </c:pt>
                <c:pt idx="27">
                  <c:v>2260000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9D0-4033-A0BB-9F2C4B71E8CF}"/>
            </c:ext>
          </c:extLst>
        </c:ser>
        <c:ser>
          <c:idx val="1"/>
          <c:order val="1"/>
          <c:tx>
            <c:strRef>
              <c:f>Brk.219!$S$3</c:f>
              <c:strCache>
                <c:ptCount val="1"/>
                <c:pt idx="0">
                  <c:v>Median GFP in Live cells</c:v>
                </c:pt>
              </c:strCache>
            </c:strRef>
          </c:tx>
          <c:spPr>
            <a:ln w="28575" cap="rnd">
              <a:solidFill>
                <a:schemeClr val="accent5">
                  <a:tint val="77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>
                  <a:tint val="77000"/>
                </a:schemeClr>
              </a:solidFill>
              <a:ln w="9525">
                <a:solidFill>
                  <a:schemeClr val="accent5">
                    <a:tint val="77000"/>
                  </a:schemeClr>
                </a:solidFill>
              </a:ln>
              <a:effectLst/>
            </c:spPr>
          </c:marker>
          <c:cat>
            <c:strRef>
              <c:f>Brk.219!$O$4:$O$32</c:f>
              <c:strCache>
                <c:ptCount val="29"/>
                <c:pt idx="0">
                  <c:v>d0</c:v>
                </c:pt>
                <c:pt idx="1">
                  <c:v>d1</c:v>
                </c:pt>
                <c:pt idx="2">
                  <c:v>d2</c:v>
                </c:pt>
                <c:pt idx="3">
                  <c:v>d3</c:v>
                </c:pt>
                <c:pt idx="4">
                  <c:v>d4</c:v>
                </c:pt>
                <c:pt idx="5">
                  <c:v>d5</c:v>
                </c:pt>
                <c:pt idx="6">
                  <c:v>d6</c:v>
                </c:pt>
                <c:pt idx="7">
                  <c:v>d7</c:v>
                </c:pt>
                <c:pt idx="8">
                  <c:v>d8</c:v>
                </c:pt>
                <c:pt idx="9">
                  <c:v>d9</c:v>
                </c:pt>
                <c:pt idx="10">
                  <c:v>d10</c:v>
                </c:pt>
                <c:pt idx="11">
                  <c:v>d14</c:v>
                </c:pt>
                <c:pt idx="12">
                  <c:v>d15</c:v>
                </c:pt>
                <c:pt idx="13">
                  <c:v>d16</c:v>
                </c:pt>
                <c:pt idx="14">
                  <c:v>d17</c:v>
                </c:pt>
                <c:pt idx="15">
                  <c:v>d18</c:v>
                </c:pt>
                <c:pt idx="16">
                  <c:v>d21</c:v>
                </c:pt>
                <c:pt idx="17">
                  <c:v>d22</c:v>
                </c:pt>
                <c:pt idx="18">
                  <c:v>d23</c:v>
                </c:pt>
                <c:pt idx="19">
                  <c:v>d24</c:v>
                </c:pt>
                <c:pt idx="20">
                  <c:v>d25</c:v>
                </c:pt>
                <c:pt idx="21">
                  <c:v>d26</c:v>
                </c:pt>
                <c:pt idx="22">
                  <c:v>d29</c:v>
                </c:pt>
                <c:pt idx="23">
                  <c:v>d31</c:v>
                </c:pt>
                <c:pt idx="24">
                  <c:v>d35</c:v>
                </c:pt>
                <c:pt idx="25">
                  <c:v>d36</c:v>
                </c:pt>
                <c:pt idx="26">
                  <c:v>d38</c:v>
                </c:pt>
                <c:pt idx="27">
                  <c:v>d43</c:v>
                </c:pt>
                <c:pt idx="28">
                  <c:v>d45</c:v>
                </c:pt>
              </c:strCache>
            </c:strRef>
          </c:cat>
          <c:val>
            <c:numRef>
              <c:f>Brk.219!$S$4:$S$32</c:f>
              <c:numCache>
                <c:formatCode>0.00E+00</c:formatCode>
                <c:ptCount val="29"/>
                <c:pt idx="0">
                  <c:v>4630000</c:v>
                </c:pt>
                <c:pt idx="1">
                  <c:v>5010000</c:v>
                </c:pt>
                <c:pt idx="2">
                  <c:v>4990000</c:v>
                </c:pt>
                <c:pt idx="3">
                  <c:v>4910000</c:v>
                </c:pt>
                <c:pt idx="4">
                  <c:v>4430000</c:v>
                </c:pt>
                <c:pt idx="5">
                  <c:v>4930000</c:v>
                </c:pt>
                <c:pt idx="6">
                  <c:v>4870000</c:v>
                </c:pt>
                <c:pt idx="7">
                  <c:v>4780000</c:v>
                </c:pt>
                <c:pt idx="8">
                  <c:v>4490000</c:v>
                </c:pt>
                <c:pt idx="9">
                  <c:v>4260000</c:v>
                </c:pt>
                <c:pt idx="10">
                  <c:v>4360000</c:v>
                </c:pt>
                <c:pt idx="11">
                  <c:v>3330000</c:v>
                </c:pt>
                <c:pt idx="12">
                  <c:v>4370000</c:v>
                </c:pt>
                <c:pt idx="13">
                  <c:v>4340000</c:v>
                </c:pt>
                <c:pt idx="14">
                  <c:v>4440000</c:v>
                </c:pt>
                <c:pt idx="15">
                  <c:v>4500000</c:v>
                </c:pt>
                <c:pt idx="16">
                  <c:v>2990000</c:v>
                </c:pt>
                <c:pt idx="17">
                  <c:v>3340000</c:v>
                </c:pt>
                <c:pt idx="18">
                  <c:v>3910000</c:v>
                </c:pt>
                <c:pt idx="19">
                  <c:v>3890000</c:v>
                </c:pt>
                <c:pt idx="20">
                  <c:v>3930000</c:v>
                </c:pt>
                <c:pt idx="21">
                  <c:v>2100000</c:v>
                </c:pt>
                <c:pt idx="22">
                  <c:v>2970000</c:v>
                </c:pt>
                <c:pt idx="23">
                  <c:v>2380000</c:v>
                </c:pt>
                <c:pt idx="24">
                  <c:v>2340000</c:v>
                </c:pt>
                <c:pt idx="25">
                  <c:v>1970000</c:v>
                </c:pt>
                <c:pt idx="26">
                  <c:v>1820000</c:v>
                </c:pt>
                <c:pt idx="27">
                  <c:v>1850000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9D0-4033-A0BB-9F2C4B71E8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2282960"/>
        <c:axId val="72285840"/>
      </c:lineChart>
      <c:catAx>
        <c:axId val="7228296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Days post selection removal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285840"/>
        <c:crosses val="autoZero"/>
        <c:auto val="1"/>
        <c:lblAlgn val="ctr"/>
        <c:lblOffset val="100"/>
        <c:noMultiLvlLbl val="0"/>
      </c:catAx>
      <c:valAx>
        <c:axId val="722858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/>
                  <a:t>GFP</a:t>
                </a:r>
                <a:r>
                  <a:rPr lang="en-US" sz="1200" baseline="0"/>
                  <a:t> intensity / Live cells</a:t>
                </a:r>
                <a:endParaRPr lang="en-US" sz="12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E+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2829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BrK.219 GFP Mean &amp; Median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'Brk.219 supp'!$F$3</c:f>
              <c:strCache>
                <c:ptCount val="1"/>
                <c:pt idx="0">
                  <c:v>Mean GFP in GFP+ cells</c:v>
                </c:pt>
              </c:strCache>
            </c:strRef>
          </c:tx>
          <c:spPr>
            <a:ln w="28575" cap="rnd">
              <a:solidFill>
                <a:schemeClr val="accent5">
                  <a:shade val="76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>
                  <a:shade val="76000"/>
                </a:schemeClr>
              </a:solidFill>
              <a:ln w="9525">
                <a:solidFill>
                  <a:schemeClr val="accent5">
                    <a:shade val="76000"/>
                  </a:schemeClr>
                </a:solidFill>
              </a:ln>
              <a:effectLst/>
            </c:spPr>
          </c:marker>
          <c:cat>
            <c:strRef>
              <c:f>'Brk.219 supp'!$A$4:$A$32</c:f>
              <c:strCache>
                <c:ptCount val="29"/>
                <c:pt idx="0">
                  <c:v>d0</c:v>
                </c:pt>
                <c:pt idx="1">
                  <c:v>d1</c:v>
                </c:pt>
                <c:pt idx="2">
                  <c:v>d2</c:v>
                </c:pt>
                <c:pt idx="3">
                  <c:v>d3</c:v>
                </c:pt>
                <c:pt idx="4">
                  <c:v>d4</c:v>
                </c:pt>
                <c:pt idx="5">
                  <c:v>d5</c:v>
                </c:pt>
                <c:pt idx="6">
                  <c:v>d6</c:v>
                </c:pt>
                <c:pt idx="7">
                  <c:v>d7</c:v>
                </c:pt>
                <c:pt idx="8">
                  <c:v>d8</c:v>
                </c:pt>
                <c:pt idx="9">
                  <c:v>d9</c:v>
                </c:pt>
                <c:pt idx="10">
                  <c:v>d10</c:v>
                </c:pt>
                <c:pt idx="11">
                  <c:v>d14</c:v>
                </c:pt>
                <c:pt idx="12">
                  <c:v>d15</c:v>
                </c:pt>
                <c:pt idx="13">
                  <c:v>d16</c:v>
                </c:pt>
                <c:pt idx="14">
                  <c:v>d17</c:v>
                </c:pt>
                <c:pt idx="15">
                  <c:v>d18</c:v>
                </c:pt>
                <c:pt idx="16">
                  <c:v>d21</c:v>
                </c:pt>
                <c:pt idx="17">
                  <c:v>d22</c:v>
                </c:pt>
                <c:pt idx="18">
                  <c:v>d23</c:v>
                </c:pt>
                <c:pt idx="19">
                  <c:v>d24</c:v>
                </c:pt>
                <c:pt idx="20">
                  <c:v>d25</c:v>
                </c:pt>
                <c:pt idx="21">
                  <c:v>d26</c:v>
                </c:pt>
                <c:pt idx="22">
                  <c:v>d29</c:v>
                </c:pt>
                <c:pt idx="23">
                  <c:v>d31</c:v>
                </c:pt>
                <c:pt idx="24">
                  <c:v>d35</c:v>
                </c:pt>
                <c:pt idx="25">
                  <c:v>d36</c:v>
                </c:pt>
                <c:pt idx="26">
                  <c:v>d38</c:v>
                </c:pt>
                <c:pt idx="27">
                  <c:v>d43</c:v>
                </c:pt>
                <c:pt idx="28">
                  <c:v>d45</c:v>
                </c:pt>
              </c:strCache>
            </c:strRef>
          </c:cat>
          <c:val>
            <c:numRef>
              <c:f>'Brk.219 supp'!$F$4:$F$32</c:f>
              <c:numCache>
                <c:formatCode>0.00E+00</c:formatCode>
                <c:ptCount val="29"/>
                <c:pt idx="0">
                  <c:v>4220000</c:v>
                </c:pt>
                <c:pt idx="1">
                  <c:v>4560000</c:v>
                </c:pt>
                <c:pt idx="2">
                  <c:v>4440000</c:v>
                </c:pt>
                <c:pt idx="3">
                  <c:v>4320000</c:v>
                </c:pt>
                <c:pt idx="4">
                  <c:v>3970000</c:v>
                </c:pt>
                <c:pt idx="5">
                  <c:v>4390000</c:v>
                </c:pt>
                <c:pt idx="6">
                  <c:v>4310000</c:v>
                </c:pt>
                <c:pt idx="7">
                  <c:v>4270000</c:v>
                </c:pt>
                <c:pt idx="8">
                  <c:v>4040000</c:v>
                </c:pt>
                <c:pt idx="9">
                  <c:v>3800000</c:v>
                </c:pt>
                <c:pt idx="10">
                  <c:v>3980000</c:v>
                </c:pt>
                <c:pt idx="11">
                  <c:v>3330000</c:v>
                </c:pt>
                <c:pt idx="12">
                  <c:v>3880000</c:v>
                </c:pt>
                <c:pt idx="13">
                  <c:v>3860000</c:v>
                </c:pt>
                <c:pt idx="14">
                  <c:v>3970000</c:v>
                </c:pt>
                <c:pt idx="15">
                  <c:v>3990000</c:v>
                </c:pt>
                <c:pt idx="16">
                  <c:v>3320000</c:v>
                </c:pt>
                <c:pt idx="17">
                  <c:v>3500000</c:v>
                </c:pt>
                <c:pt idx="18">
                  <c:v>3710000</c:v>
                </c:pt>
                <c:pt idx="19">
                  <c:v>3700000</c:v>
                </c:pt>
                <c:pt idx="20">
                  <c:v>3710000</c:v>
                </c:pt>
                <c:pt idx="21">
                  <c:v>2860000</c:v>
                </c:pt>
                <c:pt idx="22">
                  <c:v>3450000</c:v>
                </c:pt>
                <c:pt idx="23">
                  <c:v>3240000</c:v>
                </c:pt>
                <c:pt idx="24">
                  <c:v>3210000</c:v>
                </c:pt>
                <c:pt idx="25">
                  <c:v>3090000</c:v>
                </c:pt>
                <c:pt idx="26">
                  <c:v>3040000</c:v>
                </c:pt>
                <c:pt idx="27">
                  <c:v>3170000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9CC-4727-9C2F-0123A71D696F}"/>
            </c:ext>
          </c:extLst>
        </c:ser>
        <c:ser>
          <c:idx val="1"/>
          <c:order val="1"/>
          <c:tx>
            <c:strRef>
              <c:f>'Brk.219 supp'!$G$3</c:f>
              <c:strCache>
                <c:ptCount val="1"/>
                <c:pt idx="0">
                  <c:v>Median GFP in GFP+ cells</c:v>
                </c:pt>
              </c:strCache>
            </c:strRef>
          </c:tx>
          <c:spPr>
            <a:ln w="28575" cap="rnd">
              <a:solidFill>
                <a:schemeClr val="accent5">
                  <a:tint val="77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>
                  <a:tint val="77000"/>
                </a:schemeClr>
              </a:solidFill>
              <a:ln w="9525">
                <a:solidFill>
                  <a:schemeClr val="accent5">
                    <a:tint val="77000"/>
                  </a:schemeClr>
                </a:solidFill>
              </a:ln>
              <a:effectLst/>
            </c:spPr>
          </c:marker>
          <c:cat>
            <c:strRef>
              <c:f>'Brk.219 supp'!$A$4:$A$32</c:f>
              <c:strCache>
                <c:ptCount val="29"/>
                <c:pt idx="0">
                  <c:v>d0</c:v>
                </c:pt>
                <c:pt idx="1">
                  <c:v>d1</c:v>
                </c:pt>
                <c:pt idx="2">
                  <c:v>d2</c:v>
                </c:pt>
                <c:pt idx="3">
                  <c:v>d3</c:v>
                </c:pt>
                <c:pt idx="4">
                  <c:v>d4</c:v>
                </c:pt>
                <c:pt idx="5">
                  <c:v>d5</c:v>
                </c:pt>
                <c:pt idx="6">
                  <c:v>d6</c:v>
                </c:pt>
                <c:pt idx="7">
                  <c:v>d7</c:v>
                </c:pt>
                <c:pt idx="8">
                  <c:v>d8</c:v>
                </c:pt>
                <c:pt idx="9">
                  <c:v>d9</c:v>
                </c:pt>
                <c:pt idx="10">
                  <c:v>d10</c:v>
                </c:pt>
                <c:pt idx="11">
                  <c:v>d14</c:v>
                </c:pt>
                <c:pt idx="12">
                  <c:v>d15</c:v>
                </c:pt>
                <c:pt idx="13">
                  <c:v>d16</c:v>
                </c:pt>
                <c:pt idx="14">
                  <c:v>d17</c:v>
                </c:pt>
                <c:pt idx="15">
                  <c:v>d18</c:v>
                </c:pt>
                <c:pt idx="16">
                  <c:v>d21</c:v>
                </c:pt>
                <c:pt idx="17">
                  <c:v>d22</c:v>
                </c:pt>
                <c:pt idx="18">
                  <c:v>d23</c:v>
                </c:pt>
                <c:pt idx="19">
                  <c:v>d24</c:v>
                </c:pt>
                <c:pt idx="20">
                  <c:v>d25</c:v>
                </c:pt>
                <c:pt idx="21">
                  <c:v>d26</c:v>
                </c:pt>
                <c:pt idx="22">
                  <c:v>d29</c:v>
                </c:pt>
                <c:pt idx="23">
                  <c:v>d31</c:v>
                </c:pt>
                <c:pt idx="24">
                  <c:v>d35</c:v>
                </c:pt>
                <c:pt idx="25">
                  <c:v>d36</c:v>
                </c:pt>
                <c:pt idx="26">
                  <c:v>d38</c:v>
                </c:pt>
                <c:pt idx="27">
                  <c:v>d43</c:v>
                </c:pt>
                <c:pt idx="28">
                  <c:v>d45</c:v>
                </c:pt>
              </c:strCache>
            </c:strRef>
          </c:cat>
          <c:val>
            <c:numRef>
              <c:f>'Brk.219 supp'!$G$4:$G$32</c:f>
              <c:numCache>
                <c:formatCode>0.00E+00</c:formatCode>
                <c:ptCount val="29"/>
                <c:pt idx="0">
                  <c:v>4650000</c:v>
                </c:pt>
                <c:pt idx="1">
                  <c:v>5010000</c:v>
                </c:pt>
                <c:pt idx="2">
                  <c:v>4990000</c:v>
                </c:pt>
                <c:pt idx="3">
                  <c:v>4930000</c:v>
                </c:pt>
                <c:pt idx="4">
                  <c:v>4470000</c:v>
                </c:pt>
                <c:pt idx="5">
                  <c:v>4963000</c:v>
                </c:pt>
                <c:pt idx="6">
                  <c:v>4890000</c:v>
                </c:pt>
                <c:pt idx="7">
                  <c:v>4820000</c:v>
                </c:pt>
                <c:pt idx="8">
                  <c:v>4520000</c:v>
                </c:pt>
                <c:pt idx="9">
                  <c:v>4310000</c:v>
                </c:pt>
                <c:pt idx="10">
                  <c:v>4470000</c:v>
                </c:pt>
                <c:pt idx="11">
                  <c:v>3550000</c:v>
                </c:pt>
                <c:pt idx="12">
                  <c:v>4460000</c:v>
                </c:pt>
                <c:pt idx="13">
                  <c:v>4430000</c:v>
                </c:pt>
                <c:pt idx="14">
                  <c:v>4570000</c:v>
                </c:pt>
                <c:pt idx="15">
                  <c:v>4600000</c:v>
                </c:pt>
                <c:pt idx="16">
                  <c:v>3530000</c:v>
                </c:pt>
                <c:pt idx="17">
                  <c:v>3890000</c:v>
                </c:pt>
                <c:pt idx="18">
                  <c:v>4350000</c:v>
                </c:pt>
                <c:pt idx="19">
                  <c:v>4370000</c:v>
                </c:pt>
                <c:pt idx="20">
                  <c:v>4370000</c:v>
                </c:pt>
                <c:pt idx="21">
                  <c:v>2630000</c:v>
                </c:pt>
                <c:pt idx="22">
                  <c:v>3810000</c:v>
                </c:pt>
                <c:pt idx="23">
                  <c:v>3360000</c:v>
                </c:pt>
                <c:pt idx="24">
                  <c:v>3290000</c:v>
                </c:pt>
                <c:pt idx="25">
                  <c:v>3090000</c:v>
                </c:pt>
                <c:pt idx="26">
                  <c:v>2980000</c:v>
                </c:pt>
                <c:pt idx="27">
                  <c:v>3290000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9CC-4727-9C2F-0123A71D69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17014303"/>
        <c:axId val="1417017183"/>
      </c:lineChart>
      <c:catAx>
        <c:axId val="141701430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1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Days post selection removal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7017183"/>
        <c:crosses val="autoZero"/>
        <c:auto val="1"/>
        <c:lblAlgn val="ctr"/>
        <c:lblOffset val="100"/>
        <c:noMultiLvlLbl val="0"/>
      </c:catAx>
      <c:valAx>
        <c:axId val="14170171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1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GFP intensity / GFP+ cells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E+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70143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2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colors3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4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style1.xml><?xml version="1.0" encoding="utf-8"?>
<cs:chartStyle xmlns:cs="http://schemas.microsoft.com/office/drawing/2012/chartStyle" xmlns:a="http://schemas.openxmlformats.org/drawingml/2006/main" id="23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cs:styleClr val="auto"/>
    </cs:fontRef>
    <cs:spPr/>
    <cs:defRPr sz="900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 w="9575">
        <a:solidFill>
          <a:schemeClr val="lt1">
            <a:lumMod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19050" cap="rnd" cmpd="sng" algn="ctr">
        <a:solidFill>
          <a:schemeClr val="phClr">
            <a:shade val="95000"/>
            <a:satMod val="105000"/>
          </a:schemeClr>
        </a:solidFill>
        <a:round/>
      </a:ln>
    </cs:spPr>
  </cs:dataPointLine>
  <cs:dataPointMarker>
    <cs:lnRef idx="0"/>
    <cs:fillRef idx="0"/>
    <cs:effectRef idx="0"/>
    <cs:fontRef idx="minor">
      <a:schemeClr val="dk1"/>
    </cs:fontRef>
    <cs:spPr>
      <a:solidFill>
        <a:schemeClr val="lt1"/>
      </a:solidFill>
    </cs:spPr>
  </cs:dataPointMarker>
  <cs:dataPointMarkerLayout symbol="circle" size="17"/>
  <cs:dataPointWireframe>
    <cs:lnRef idx="0">
      <cs:styleClr val="auto"/>
    </cs:lnRef>
    <cs:fillRef idx="1"/>
    <cs:effectRef idx="0"/>
    <cs:fontRef idx="minor">
      <a:schemeClr val="dk1"/>
    </cs:fontRef>
    <cs:spPr>
      <a:ln w="9525">
        <a:solidFill>
          <a:schemeClr val="phClr"/>
        </a:solidFill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seriesLine>
  <cs:title>
    <cs:lnRef idx="0"/>
    <cs:fillRef idx="0"/>
    <cs:effectRef idx="0"/>
    <cs:fontRef idx="minor">
      <a:schemeClr val="dk1"/>
    </cs:fontRef>
    <cs:defRPr sz="1440" b="0" kern="1200" cap="all" spc="0" baseline="0">
      <a:gradFill>
        <a:gsLst>
          <a:gs pos="0">
            <a:schemeClr val="dk1">
              <a:lumMod val="50000"/>
              <a:lumOff val="50000"/>
            </a:schemeClr>
          </a:gs>
          <a:gs pos="100000">
            <a:schemeClr val="dk1">
              <a:lumMod val="85000"/>
              <a:lumOff val="15000"/>
            </a:schemeClr>
          </a:gs>
        </a:gsLst>
        <a:lin ang="5400000" scaled="0"/>
      </a:gradFill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AEE33-36B2-A1BB-EB16-54E6A0F95D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39000"/>
            <a:ext cx="9144000" cy="1754326"/>
          </a:xfrm>
        </p:spPr>
        <p:txBody>
          <a:bodyPr anchor="ctr" anchorCtr="0">
            <a:sp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887B87-2480-5114-43FE-44B2224C82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424732"/>
          </a:xfrm>
        </p:spPr>
        <p:txBody>
          <a:bodyPr anchor="ctr" anchorCtr="0">
            <a:sp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29662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37C2F-BA40-3386-6B3A-D2AC8895F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33" y="144998"/>
            <a:ext cx="10515600" cy="535531"/>
          </a:xfrm>
        </p:spPr>
        <p:txBody>
          <a:bodyPr>
            <a:spAutoFit/>
          </a:bodyPr>
          <a:lstStyle>
            <a:lvl1pPr>
              <a:defRPr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2B5D4-1D00-6166-E1EE-AA298ABDE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33" y="1044228"/>
            <a:ext cx="11556076" cy="522356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C16529-5BB6-194C-D605-FE9D5A7C4069}"/>
              </a:ext>
            </a:extLst>
          </p:cNvPr>
          <p:cNvSpPr/>
          <p:nvPr userDrawn="1"/>
        </p:nvSpPr>
        <p:spPr>
          <a:xfrm>
            <a:off x="11464506" y="6064370"/>
            <a:ext cx="718868" cy="7850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3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78397-45E2-856E-5FA8-9CBD81ED0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860744"/>
            <a:ext cx="10515600" cy="701731"/>
          </a:xfrm>
        </p:spPr>
        <p:txBody>
          <a:bodyPr anchor="ctr" anchorCtr="0">
            <a:spAutoFit/>
          </a:bodyPr>
          <a:lstStyle>
            <a:lvl1pPr>
              <a:defRPr sz="44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2A2AFA-9194-3193-76CB-3AA33724FA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424732"/>
          </a:xfrm>
        </p:spPr>
        <p:txBody>
          <a:bodyPr anchor="ctr" anchorCtr="0">
            <a:spAutoFit/>
          </a:bodyPr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8A60045-1D52-94BD-B6B3-E0CF84154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8118" y="6301047"/>
            <a:ext cx="381000" cy="365125"/>
          </a:xfrm>
        </p:spPr>
        <p:txBody>
          <a:bodyPr/>
          <a:lstStyle>
            <a:lvl1pPr algn="ctr">
              <a:defRPr b="1">
                <a:solidFill>
                  <a:schemeClr val="tx1"/>
                </a:solidFill>
              </a:defRPr>
            </a:lvl1pPr>
          </a:lstStyle>
          <a:p>
            <a:fld id="{B45881DE-633A-4C30-A1FF-93EA03845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881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96BC6-C1D0-0120-5B66-C49F0C448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1702E-78FE-DEEB-0A5F-777BDD0FBC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44E466-C424-6356-F525-CE4B73AFAF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02C7E8-EEDF-388C-20CC-CC6131642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D1F08-889B-41C6-AB0A-79DF31918568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2CA99-29FB-4E7F-44C1-28030B13B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6B7903-49C4-F304-ED49-1E34FF89C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881DE-633A-4C30-A1FF-93EA03845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434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B2C96-29E2-6B90-609E-ED3A30E38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6AA1AE-2764-3B43-F721-7B239B3A8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2E72D-3655-C38B-9EE8-3C144FAC54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9A392E-6709-629B-1802-89642F566D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8B3722-A089-18E1-5A80-00257AAB15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A11D93-51EB-6C17-2D3D-3E6D572D6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D1F08-889B-41C6-AB0A-79DF31918568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7FCE24-DB37-03F0-FBBF-85780BE70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1FC2E3-16A8-29B7-155F-4D7D47962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881DE-633A-4C30-A1FF-93EA03845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488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ED6F5-71C7-BB4F-87F1-6EE587D5B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F57C36-CFAD-6B7D-6766-700AE44FD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D1F08-889B-41C6-AB0A-79DF31918568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5EB891-B1BB-E6F2-F984-5421F9F89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BFA05C-EB4A-37B3-198E-EC6B676C4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881DE-633A-4C30-A1FF-93EA03845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639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FD1880-F817-74B6-53E8-EFBE0B6F0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D1F08-889B-41C6-AB0A-79DF31918568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F95776-62DB-6EFC-4FD3-DB907141F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F80D82-B966-7ED3-0A4E-6BED17208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881DE-633A-4C30-A1FF-93EA03845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39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1F4E6-F5DD-9D50-D6E9-B122B04EC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61C67-3F2B-61B0-1E99-0369B423D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44A600-F4F9-BF79-CF1C-40D50095D5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BD3A34-DBFF-6AC3-0D27-26FFCC86E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D1F08-889B-41C6-AB0A-79DF31918568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49F97-4AB6-56AE-DBE9-1013D3457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5DB5BF-CD36-42FF-ED84-E5437EBEB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881DE-633A-4C30-A1FF-93EA03845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762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B00D2-A1F4-C592-4460-88C91480C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A5543D-E536-70BB-ADB9-35FFAC9789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FB1509-D46D-A516-4573-24F2571882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9BEB-342B-069C-F116-80BEA7A34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D1F08-889B-41C6-AB0A-79DF31918568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5DE6C4-9F11-6319-617A-EFDF85759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58600D-D852-731C-9FDA-A9F17839D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881DE-633A-4C30-A1FF-93EA03845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151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8DE17-DB24-D0E5-7975-B9975820D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726CC2-02CD-2A4E-0302-2F4D93E4F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F2134-7FAC-F7F7-52A2-62CF82C29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D1F08-889B-41C6-AB0A-79DF31918568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6A17D-0223-1A61-4509-E7B9DE92E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045A9-048D-9F4B-099D-ED5C898D0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881DE-633A-4C30-A1FF-93EA03845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157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987F7A-9D1B-759F-03F6-E8FFC8D48E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5EA80E-85E2-0A99-789A-CADF790F9F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50968-56EF-B206-F920-C49E62AEE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D1F08-889B-41C6-AB0A-79DF31918568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FBF52-799F-4B79-7BBF-84BC4002F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34E88-AF80-3AC1-40ED-8C70BC1D8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881DE-633A-4C30-A1FF-93EA03845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288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D26152-8F76-FE64-4E55-1AF1C5BA3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028799-011F-1959-D2C4-3165D7F5F6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76A377-F7CB-8364-61D5-FA47900B17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2D1F08-889B-41C6-AB0A-79DF31918568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1B33C-9F4F-9191-D7FA-4A5B8CF836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CB39E-8ED1-CED0-A287-5EC8F00A31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5881DE-633A-4C30-A1FF-93EA03845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97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0288E-1631-1403-FA94-10A3F7F1B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C8098-0518-24A8-E14A-5B47EC8DD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Episome </a:t>
            </a:r>
            <a:r>
              <a:rPr lang="fr-FR" dirty="0" err="1"/>
              <a:t>loss</a:t>
            </a:r>
            <a:r>
              <a:rPr lang="fr-FR" dirty="0"/>
              <a:t> </a:t>
            </a:r>
            <a:r>
              <a:rPr lang="fr-FR" dirty="0" err="1"/>
              <a:t>experiment</a:t>
            </a:r>
            <a:r>
              <a:rPr lang="fr-FR" dirty="0"/>
              <a:t> on non-</a:t>
            </a:r>
            <a:r>
              <a:rPr lang="fr-FR" dirty="0" err="1"/>
              <a:t>selected</a:t>
            </a:r>
            <a:r>
              <a:rPr lang="fr-FR" dirty="0"/>
              <a:t> Brk.219</a:t>
            </a:r>
            <a:endParaRPr lang="en-US" dirty="0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A5974ED6-4B6B-3029-DC61-8CF6499C6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372" y="959969"/>
            <a:ext cx="11200502" cy="9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Aim</a:t>
            </a:r>
            <a:r>
              <a:rPr kumimoji="0" lang="en-US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: determine the rate of episome loss in BrK.219 when selection is removed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11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Experiment</a:t>
            </a:r>
            <a:r>
              <a: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: count cells and stain for Live/Dead before checking the GFP level everyday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11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Conditions</a:t>
            </a:r>
            <a:r>
              <a: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: puromycin selection removed on d0 and keeping in culture, starting at 10^5 and passaging when &gt;10^6, collecting, counting, staining and fixing everyday for flow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11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Results</a:t>
            </a:r>
            <a:r>
              <a: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: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00CDC8-FD5E-06A7-F95E-2C9F9B07A811}"/>
              </a:ext>
            </a:extLst>
          </p:cNvPr>
          <p:cNvSpPr/>
          <p:nvPr/>
        </p:nvSpPr>
        <p:spPr>
          <a:xfrm>
            <a:off x="10433634" y="6550223"/>
            <a:ext cx="1758366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 w="0"/>
                <a:solidFill>
                  <a:srgbClr val="A02B93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Franklin Gothic Book" panose="020B0503020102020204"/>
                <a:ea typeface="+mn-ea"/>
                <a:cs typeface="+mn-cs"/>
              </a:rPr>
              <a:t>*</a:t>
            </a:r>
            <a:r>
              <a:rPr kumimoji="0" lang="en-US" sz="1400" b="0" i="0" u="none" strike="noStrike" kern="1200" cap="none" spc="0" normalizeH="0" baseline="0" noProof="0" dirty="0">
                <a:ln w="0"/>
                <a:solidFill>
                  <a:srgbClr val="A02B93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Franklin Gothic Book" panose="020B0503020102020204"/>
                <a:ea typeface="+mn-ea"/>
                <a:cs typeface="+mn-cs"/>
              </a:rPr>
              <a:t>=split back to 10^5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3511F2-AB2F-4B7D-5AED-C8EC0EE26442}"/>
              </a:ext>
            </a:extLst>
          </p:cNvPr>
          <p:cNvSpPr txBox="1"/>
          <p:nvPr/>
        </p:nvSpPr>
        <p:spPr>
          <a:xfrm>
            <a:off x="0" y="6611779"/>
            <a:ext cx="12747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9Mar to 21Apr2026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59AD30D1-5F43-246C-EF84-65DC2321F880}"/>
              </a:ext>
            </a:extLst>
          </p:cNvPr>
          <p:cNvGraphicFramePr>
            <a:graphicFrameLocks noGrp="1"/>
          </p:cNvGraphicFramePr>
          <p:nvPr/>
        </p:nvGraphicFramePr>
        <p:xfrm>
          <a:off x="1274708" y="1601665"/>
          <a:ext cx="2896930" cy="5077152"/>
        </p:xfrm>
        <a:graphic>
          <a:graphicData uri="http://schemas.openxmlformats.org/drawingml/2006/table">
            <a:tbl>
              <a:tblPr/>
              <a:tblGrid>
                <a:gridCol w="269643">
                  <a:extLst>
                    <a:ext uri="{9D8B030D-6E8A-4147-A177-3AD203B41FA5}">
                      <a16:colId xmlns:a16="http://schemas.microsoft.com/office/drawing/2014/main" val="3538518433"/>
                    </a:ext>
                  </a:extLst>
                </a:gridCol>
                <a:gridCol w="1285988">
                  <a:extLst>
                    <a:ext uri="{9D8B030D-6E8A-4147-A177-3AD203B41FA5}">
                      <a16:colId xmlns:a16="http://schemas.microsoft.com/office/drawing/2014/main" val="2369505925"/>
                    </a:ext>
                  </a:extLst>
                </a:gridCol>
                <a:gridCol w="1341299">
                  <a:extLst>
                    <a:ext uri="{9D8B030D-6E8A-4147-A177-3AD203B41FA5}">
                      <a16:colId xmlns:a16="http://schemas.microsoft.com/office/drawing/2014/main" val="2043993482"/>
                    </a:ext>
                  </a:extLst>
                </a:gridCol>
              </a:tblGrid>
              <a:tr h="14932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>
                            <a:outerShdw blurRad="50800" dist="38100" algn="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anklin Gothic Book" panose="020B0503020102020204" pitchFamily="34" charset="0"/>
                        </a:rPr>
                        <a:t>Day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>
                            <a:outerShdw blurRad="50800" dist="38100" algn="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anklin Gothic Book" panose="020B0503020102020204" pitchFamily="34" charset="0"/>
                        </a:rPr>
                        <a:t>Live cell count (.10^5)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>
                            <a:outerShdw blurRad="50800" dist="38100" algn="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anklin Gothic Book" panose="020B0503020102020204" pitchFamily="34" charset="0"/>
                        </a:rPr>
                        <a:t>Dead cell count (.10^5)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2B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340204"/>
                  </a:ext>
                </a:extLst>
              </a:tr>
              <a:tr h="15485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d0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 </a:t>
                      </a:r>
                    </a:p>
                  </a:txBody>
                  <a:tcPr marL="4740" marR="4740" marT="474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340986"/>
                  </a:ext>
                </a:extLst>
              </a:tr>
              <a:tr h="14932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d1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1.65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 </a:t>
                      </a:r>
                    </a:p>
                  </a:txBody>
                  <a:tcPr marL="4740" marR="4740" marT="474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685166"/>
                  </a:ext>
                </a:extLst>
              </a:tr>
              <a:tr h="14932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d2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2.2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 </a:t>
                      </a:r>
                    </a:p>
                  </a:txBody>
                  <a:tcPr marL="4740" marR="4740" marT="474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188239"/>
                  </a:ext>
                </a:extLst>
              </a:tr>
              <a:tr h="14932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d3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7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 </a:t>
                      </a:r>
                    </a:p>
                  </a:txBody>
                  <a:tcPr marL="4740" marR="4740" marT="474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75215"/>
                  </a:ext>
                </a:extLst>
              </a:tr>
              <a:tr h="14932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d4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2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11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2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0.1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2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828530"/>
                  </a:ext>
                </a:extLst>
              </a:tr>
              <a:tr h="14932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d5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2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1.1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2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 </a:t>
                      </a:r>
                    </a:p>
                  </a:txBody>
                  <a:tcPr marL="4740" marR="4740" marT="474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2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031771"/>
                  </a:ext>
                </a:extLst>
              </a:tr>
              <a:tr h="14932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d6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2.15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0.5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0607588"/>
                  </a:ext>
                </a:extLst>
              </a:tr>
              <a:tr h="14932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d7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6.15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 </a:t>
                      </a:r>
                    </a:p>
                  </a:txBody>
                  <a:tcPr marL="4740" marR="4740" marT="474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2936399"/>
                  </a:ext>
                </a:extLst>
              </a:tr>
              <a:tr h="14932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d8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8.25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0.7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997496"/>
                  </a:ext>
                </a:extLst>
              </a:tr>
              <a:tr h="14932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d9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2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12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2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1.55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2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0617280"/>
                  </a:ext>
                </a:extLst>
              </a:tr>
              <a:tr h="14932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d10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2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1.35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2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 </a:t>
                      </a:r>
                    </a:p>
                  </a:txBody>
                  <a:tcPr marL="4740" marR="4740" marT="474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2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629890"/>
                  </a:ext>
                </a:extLst>
              </a:tr>
              <a:tr h="1493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d14</a:t>
                      </a:r>
                    </a:p>
                  </a:txBody>
                  <a:tcPr marL="4740" marR="4740" marT="474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9.35</a:t>
                      </a:r>
                    </a:p>
                  </a:txBody>
                  <a:tcPr marL="4740" marR="4740" marT="474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0.085</a:t>
                      </a:r>
                    </a:p>
                  </a:txBody>
                  <a:tcPr marL="4740" marR="4740" marT="474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711212"/>
                  </a:ext>
                </a:extLst>
              </a:tr>
              <a:tr h="1493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d15</a:t>
                      </a:r>
                    </a:p>
                  </a:txBody>
                  <a:tcPr marL="4740" marR="4740" marT="474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2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9.3</a:t>
                      </a:r>
                    </a:p>
                  </a:txBody>
                  <a:tcPr marL="4740" marR="4740" marT="474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2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0.32</a:t>
                      </a:r>
                    </a:p>
                  </a:txBody>
                  <a:tcPr marL="4740" marR="4740" marT="474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2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7086816"/>
                  </a:ext>
                </a:extLst>
              </a:tr>
              <a:tr h="1493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d16</a:t>
                      </a:r>
                    </a:p>
                  </a:txBody>
                  <a:tcPr marL="4740" marR="4740" marT="474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2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</a:t>
                      </a:r>
                    </a:p>
                  </a:txBody>
                  <a:tcPr marL="4740" marR="4740" marT="474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2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 </a:t>
                      </a:r>
                    </a:p>
                  </a:txBody>
                  <a:tcPr marL="4740" marR="4740" marT="474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2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538462"/>
                  </a:ext>
                </a:extLst>
              </a:tr>
              <a:tr h="1493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d17</a:t>
                      </a:r>
                    </a:p>
                  </a:txBody>
                  <a:tcPr marL="4740" marR="4740" marT="474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1.3</a:t>
                      </a:r>
                    </a:p>
                  </a:txBody>
                  <a:tcPr marL="4740" marR="4740" marT="474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 </a:t>
                      </a:r>
                    </a:p>
                  </a:txBody>
                  <a:tcPr marL="4740" marR="4740" marT="474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72897"/>
                  </a:ext>
                </a:extLst>
              </a:tr>
              <a:tr h="1493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d18</a:t>
                      </a:r>
                    </a:p>
                  </a:txBody>
                  <a:tcPr marL="4740" marR="4740" marT="474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5</a:t>
                      </a:r>
                    </a:p>
                  </a:txBody>
                  <a:tcPr marL="4740" marR="4740" marT="474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0.45</a:t>
                      </a:r>
                    </a:p>
                  </a:txBody>
                  <a:tcPr marL="4740" marR="4740" marT="474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834503"/>
                  </a:ext>
                </a:extLst>
              </a:tr>
              <a:tr h="1493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d21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2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10.25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2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1.65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2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001683"/>
                  </a:ext>
                </a:extLst>
              </a:tr>
              <a:tr h="1493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d22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2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1.2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2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 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2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481937"/>
                  </a:ext>
                </a:extLst>
              </a:tr>
              <a:tr h="1493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d23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1.05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 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0839897"/>
                  </a:ext>
                </a:extLst>
              </a:tr>
              <a:tr h="1493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d24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2.3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 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838943"/>
                  </a:ext>
                </a:extLst>
              </a:tr>
              <a:tr h="1493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d25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8.15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 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3603163"/>
                  </a:ext>
                </a:extLst>
              </a:tr>
              <a:tr h="1493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d26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8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 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237833"/>
                  </a:ext>
                </a:extLst>
              </a:tr>
              <a:tr h="1493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d26*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2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2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 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2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459557"/>
                  </a:ext>
                </a:extLst>
              </a:tr>
              <a:tr h="1493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d29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2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6.9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2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0.35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2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653437"/>
                  </a:ext>
                </a:extLst>
              </a:tr>
              <a:tr h="1493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d31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FC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9.85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1.85</a:t>
                      </a:r>
                    </a:p>
                  </a:txBody>
                  <a:tcPr marL="4740" marR="4740" marT="4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5630981"/>
                  </a:ext>
                </a:extLst>
              </a:tr>
              <a:tr h="1493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d31*</a:t>
                      </a:r>
                    </a:p>
                  </a:txBody>
                  <a:tcPr marL="4740" marR="4740" marT="474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A02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</a:t>
                      </a:r>
                    </a:p>
                  </a:txBody>
                  <a:tcPr marL="4740" marR="4740" marT="474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2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 </a:t>
                      </a:r>
                    </a:p>
                  </a:txBody>
                  <a:tcPr marL="4740" marR="4740" marT="474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2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5498594"/>
                  </a:ext>
                </a:extLst>
              </a:tr>
              <a:tr h="1493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d35</a:t>
                      </a:r>
                    </a:p>
                  </a:txBody>
                  <a:tcPr marL="4740" marR="4740" marT="474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2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4.85</a:t>
                      </a:r>
                    </a:p>
                  </a:txBody>
                  <a:tcPr marL="4740" marR="4740" marT="474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2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 </a:t>
                      </a:r>
                    </a:p>
                  </a:txBody>
                  <a:tcPr marL="4740" marR="4740" marT="474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2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7756999"/>
                  </a:ext>
                </a:extLst>
              </a:tr>
              <a:tr h="1493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d36</a:t>
                      </a:r>
                    </a:p>
                  </a:txBody>
                  <a:tcPr marL="4740" marR="4740" marT="474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11.8</a:t>
                      </a:r>
                    </a:p>
                  </a:txBody>
                  <a:tcPr marL="4740" marR="4740" marT="474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0.4</a:t>
                      </a:r>
                    </a:p>
                  </a:txBody>
                  <a:tcPr marL="4740" marR="4740" marT="474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94679"/>
                  </a:ext>
                </a:extLst>
              </a:tr>
              <a:tr h="1493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d38</a:t>
                      </a:r>
                    </a:p>
                  </a:txBody>
                  <a:tcPr marL="4740" marR="4740" marT="474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16.55</a:t>
                      </a:r>
                    </a:p>
                  </a:txBody>
                  <a:tcPr marL="4740" marR="4740" marT="474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1.95</a:t>
                      </a:r>
                    </a:p>
                  </a:txBody>
                  <a:tcPr marL="4740" marR="4740" marT="474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6373313"/>
                  </a:ext>
                </a:extLst>
              </a:tr>
              <a:tr h="1493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d38*</a:t>
                      </a:r>
                    </a:p>
                  </a:txBody>
                  <a:tcPr marL="4740" marR="4740" marT="474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2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</a:t>
                      </a:r>
                    </a:p>
                  </a:txBody>
                  <a:tcPr marL="4740" marR="4740" marT="474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2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 </a:t>
                      </a:r>
                    </a:p>
                  </a:txBody>
                  <a:tcPr marL="4740" marR="4740" marT="474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2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33500"/>
                  </a:ext>
                </a:extLst>
              </a:tr>
              <a:tr h="1493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d43</a:t>
                      </a:r>
                    </a:p>
                  </a:txBody>
                  <a:tcPr marL="4740" marR="4740" marT="474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2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15.55</a:t>
                      </a:r>
                    </a:p>
                  </a:txBody>
                  <a:tcPr marL="4740" marR="4740" marT="474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2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1.3</a:t>
                      </a:r>
                    </a:p>
                  </a:txBody>
                  <a:tcPr marL="4740" marR="4740" marT="474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2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8333948"/>
                  </a:ext>
                </a:extLst>
              </a:tr>
              <a:tr h="1493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d43*</a:t>
                      </a:r>
                    </a:p>
                  </a:txBody>
                  <a:tcPr marL="4740" marR="4740" marT="474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2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</a:t>
                      </a:r>
                    </a:p>
                  </a:txBody>
                  <a:tcPr marL="4740" marR="4740" marT="474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2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 </a:t>
                      </a:r>
                    </a:p>
                  </a:txBody>
                  <a:tcPr marL="4740" marR="4740" marT="474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2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997286"/>
                  </a:ext>
                </a:extLst>
              </a:tr>
              <a:tr h="14379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d45</a:t>
                      </a:r>
                    </a:p>
                  </a:txBody>
                  <a:tcPr marL="4740" marR="4740" marT="474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2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 </a:t>
                      </a:r>
                    </a:p>
                  </a:txBody>
                  <a:tcPr marL="4740" marR="4740" marT="474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2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 </a:t>
                      </a:r>
                    </a:p>
                  </a:txBody>
                  <a:tcPr marL="4740" marR="4740" marT="474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2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C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420795"/>
                  </a:ext>
                </a:extLst>
              </a:tr>
            </a:tbl>
          </a:graphicData>
        </a:graphic>
      </p:graphicFrame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A405D0F7-AFFA-A2FE-2DC5-376A575CDF19}"/>
              </a:ext>
            </a:extLst>
          </p:cNvPr>
          <p:cNvGraphicFramePr>
            <a:graphicFrameLocks/>
          </p:cNvGraphicFramePr>
          <p:nvPr/>
        </p:nvGraphicFramePr>
        <p:xfrm>
          <a:off x="4760697" y="2081416"/>
          <a:ext cx="6519334" cy="38166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76646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ED250-3C1A-85F0-EBC8-C8C185C5A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09F6D-E172-D811-DD50-B63E197B7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Episome </a:t>
            </a:r>
            <a:r>
              <a:rPr lang="fr-FR" dirty="0" err="1"/>
              <a:t>loss</a:t>
            </a:r>
            <a:r>
              <a:rPr lang="fr-FR" dirty="0"/>
              <a:t> </a:t>
            </a:r>
            <a:r>
              <a:rPr lang="fr-FR" dirty="0" err="1"/>
              <a:t>experiment</a:t>
            </a:r>
            <a:r>
              <a:rPr lang="fr-FR" dirty="0"/>
              <a:t> on non-</a:t>
            </a:r>
            <a:r>
              <a:rPr lang="fr-FR" dirty="0" err="1"/>
              <a:t>selected</a:t>
            </a:r>
            <a:r>
              <a:rPr lang="fr-FR" dirty="0"/>
              <a:t> Brk.219</a:t>
            </a:r>
            <a:endParaRPr lang="en-US" dirty="0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EDB77484-E1B5-45F7-D5B6-6797BF1F1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372" y="959969"/>
            <a:ext cx="11200502" cy="9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Aim</a:t>
            </a:r>
            <a:r>
              <a:rPr kumimoji="0" lang="en-US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: determine the rate of episome loss in BrK.219 when selection is removed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11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Experiment</a:t>
            </a:r>
            <a:r>
              <a: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: count cells and stain for Live/Dead before checking the GFP level everyday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11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Conditions</a:t>
            </a:r>
            <a:r>
              <a: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: puromycin selection removed on d0 and keeping in culture, starting at 10^5 and passaging when &gt;10^6, collecting, counting, staining and fixing everyday for flow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11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Results</a:t>
            </a:r>
            <a:r>
              <a: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: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ACDAAF-1061-771C-4DE4-3610A82026AE}"/>
              </a:ext>
            </a:extLst>
          </p:cNvPr>
          <p:cNvSpPr/>
          <p:nvPr/>
        </p:nvSpPr>
        <p:spPr>
          <a:xfrm>
            <a:off x="10433634" y="6550223"/>
            <a:ext cx="1758366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 w="0"/>
                <a:solidFill>
                  <a:srgbClr val="A02B93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Franklin Gothic Book" panose="020B0503020102020204"/>
                <a:ea typeface="+mn-ea"/>
                <a:cs typeface="+mn-cs"/>
              </a:rPr>
              <a:t>*</a:t>
            </a:r>
            <a:r>
              <a:rPr kumimoji="0" lang="en-US" sz="1400" b="0" i="0" u="none" strike="noStrike" kern="1200" cap="none" spc="0" normalizeH="0" baseline="0" noProof="0" dirty="0">
                <a:ln w="0"/>
                <a:solidFill>
                  <a:srgbClr val="A02B93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Franklin Gothic Book" panose="020B0503020102020204"/>
                <a:ea typeface="+mn-ea"/>
                <a:cs typeface="+mn-cs"/>
              </a:rPr>
              <a:t>=split back to 10^5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CB80D6-10DD-336C-5E7F-055F2E95CE22}"/>
              </a:ext>
            </a:extLst>
          </p:cNvPr>
          <p:cNvSpPr txBox="1"/>
          <p:nvPr/>
        </p:nvSpPr>
        <p:spPr>
          <a:xfrm>
            <a:off x="0" y="6611779"/>
            <a:ext cx="12747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9Mar to 21Apr2026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14F9024-5BB7-67E7-A05B-00E38FC22715}"/>
              </a:ext>
            </a:extLst>
          </p:cNvPr>
          <p:cNvGraphicFramePr>
            <a:graphicFrameLocks noGrp="1"/>
          </p:cNvGraphicFramePr>
          <p:nvPr/>
        </p:nvGraphicFramePr>
        <p:xfrm>
          <a:off x="1045234" y="1578634"/>
          <a:ext cx="10101532" cy="4971583"/>
        </p:xfrm>
        <a:graphic>
          <a:graphicData uri="http://schemas.openxmlformats.org/drawingml/2006/table">
            <a:tbl>
              <a:tblPr/>
              <a:tblGrid>
                <a:gridCol w="410309">
                  <a:extLst>
                    <a:ext uri="{9D8B030D-6E8A-4147-A177-3AD203B41FA5}">
                      <a16:colId xmlns:a16="http://schemas.microsoft.com/office/drawing/2014/main" val="2664321754"/>
                    </a:ext>
                  </a:extLst>
                </a:gridCol>
                <a:gridCol w="1419763">
                  <a:extLst>
                    <a:ext uri="{9D8B030D-6E8A-4147-A177-3AD203B41FA5}">
                      <a16:colId xmlns:a16="http://schemas.microsoft.com/office/drawing/2014/main" val="1348108145"/>
                    </a:ext>
                  </a:extLst>
                </a:gridCol>
                <a:gridCol w="1380131">
                  <a:extLst>
                    <a:ext uri="{9D8B030D-6E8A-4147-A177-3AD203B41FA5}">
                      <a16:colId xmlns:a16="http://schemas.microsoft.com/office/drawing/2014/main" val="236346326"/>
                    </a:ext>
                  </a:extLst>
                </a:gridCol>
                <a:gridCol w="1622586">
                  <a:extLst>
                    <a:ext uri="{9D8B030D-6E8A-4147-A177-3AD203B41FA5}">
                      <a16:colId xmlns:a16="http://schemas.microsoft.com/office/drawing/2014/main" val="1141452211"/>
                    </a:ext>
                  </a:extLst>
                </a:gridCol>
                <a:gridCol w="1734488">
                  <a:extLst>
                    <a:ext uri="{9D8B030D-6E8A-4147-A177-3AD203B41FA5}">
                      <a16:colId xmlns:a16="http://schemas.microsoft.com/office/drawing/2014/main" val="2598195449"/>
                    </a:ext>
                  </a:extLst>
                </a:gridCol>
                <a:gridCol w="1706515">
                  <a:extLst>
                    <a:ext uri="{9D8B030D-6E8A-4147-A177-3AD203B41FA5}">
                      <a16:colId xmlns:a16="http://schemas.microsoft.com/office/drawing/2014/main" val="1165580553"/>
                    </a:ext>
                  </a:extLst>
                </a:gridCol>
                <a:gridCol w="1827740">
                  <a:extLst>
                    <a:ext uri="{9D8B030D-6E8A-4147-A177-3AD203B41FA5}">
                      <a16:colId xmlns:a16="http://schemas.microsoft.com/office/drawing/2014/main" val="366680728"/>
                    </a:ext>
                  </a:extLst>
                </a:gridCol>
              </a:tblGrid>
              <a:tr h="1642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Franklin Gothic Book" panose="020B0503020102020204" pitchFamily="34" charset="0"/>
                        </a:rPr>
                        <a:t>Day</a:t>
                      </a:r>
                    </a:p>
                  </a:txBody>
                  <a:tcPr marL="5529" marR="5529" marT="5529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Franklin Gothic Book" panose="020B0503020102020204" pitchFamily="34" charset="0"/>
                        </a:rPr>
                        <a:t>%GFP+ in Live cells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Franklin Gothic Book" panose="020B0503020102020204" pitchFamily="34" charset="0"/>
                        </a:rPr>
                        <a:t>%GFP- in Live cells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Franklin Gothic Book" panose="020B0503020102020204" pitchFamily="34" charset="0"/>
                        </a:rPr>
                        <a:t>Mean GFP in Live cells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Franklin Gothic Book" panose="020B0503020102020204" pitchFamily="34" charset="0"/>
                        </a:rPr>
                        <a:t>Median GFP in Live cells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Franklin Gothic Book" panose="020B0503020102020204" pitchFamily="34" charset="0"/>
                        </a:rPr>
                        <a:t>Mean GFP in GFP+ cells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Franklin Gothic Book" panose="020B0503020102020204" pitchFamily="34" charset="0"/>
                        </a:rPr>
                        <a:t>Median GFP in GFP+ cells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994197"/>
                  </a:ext>
                </a:extLst>
              </a:tr>
              <a:tr h="1642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d0</a:t>
                      </a:r>
                    </a:p>
                  </a:txBody>
                  <a:tcPr marL="5529" marR="5529" marT="5529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98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0.37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4.14E+06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4.63E+06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4.22E+06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4.65E+06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7826551"/>
                  </a:ext>
                </a:extLst>
              </a:tr>
              <a:tr h="1642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d1</a:t>
                      </a:r>
                    </a:p>
                  </a:txBody>
                  <a:tcPr marL="5529" marR="5529" marT="5529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98.7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0.37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4.50E+06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5.01E+06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4.56E+06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5.01E+06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325191"/>
                  </a:ext>
                </a:extLst>
              </a:tr>
              <a:tr h="1642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d2</a:t>
                      </a:r>
                    </a:p>
                  </a:txBody>
                  <a:tcPr marL="5529" marR="5529" marT="5529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99.6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0.27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4.42E+06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4.99E+06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4.44E+06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4.99E+06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067998"/>
                  </a:ext>
                </a:extLst>
              </a:tr>
              <a:tr h="1642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d3</a:t>
                      </a:r>
                    </a:p>
                  </a:txBody>
                  <a:tcPr marL="5529" marR="5529" marT="5529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98.8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0.87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4.27E+06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4.91E+06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4.32E+06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4.93E+06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656037"/>
                  </a:ext>
                </a:extLst>
              </a:tr>
              <a:tr h="17056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d4</a:t>
                      </a:r>
                    </a:p>
                  </a:txBody>
                  <a:tcPr marL="5529" marR="5529" marT="5529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98.5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1.1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3.91E+06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4.43E+06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3.97E+06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4.47E+06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8627605"/>
                  </a:ext>
                </a:extLst>
              </a:tr>
              <a:tr h="1642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d5</a:t>
                      </a:r>
                    </a:p>
                  </a:txBody>
                  <a:tcPr marL="5529" marR="5529" marT="5529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98.6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1.21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4.33E+06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4.93E+06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4.39E+06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4.96E+06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533294"/>
                  </a:ext>
                </a:extLst>
              </a:tr>
              <a:tr h="1642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d6</a:t>
                      </a:r>
                    </a:p>
                  </a:txBody>
                  <a:tcPr marL="5529" marR="5529" marT="5529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98.5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1.11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4.25E+06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4.87E+06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4.31E+06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4.89E+06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454546"/>
                  </a:ext>
                </a:extLst>
              </a:tr>
              <a:tr h="1642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d7</a:t>
                      </a:r>
                    </a:p>
                  </a:txBody>
                  <a:tcPr marL="5529" marR="5529" marT="5529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97.4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2.01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4.17E+06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4.78E+06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4.27E+06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4.82E+06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413217"/>
                  </a:ext>
                </a:extLst>
              </a:tr>
              <a:tr h="1642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d8</a:t>
                      </a:r>
                    </a:p>
                  </a:txBody>
                  <a:tcPr marL="5529" marR="5529" marT="5529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96.9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2.42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3.92E+06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4.49E+06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4.04E+06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4.52E+06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168101"/>
                  </a:ext>
                </a:extLst>
              </a:tr>
              <a:tr h="17056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d9</a:t>
                      </a:r>
                    </a:p>
                  </a:txBody>
                  <a:tcPr marL="5529" marR="5529" marT="5529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95.2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3.87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3.63E+06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4.26E+06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3.80E+06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4.31E+06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310570"/>
                  </a:ext>
                </a:extLst>
              </a:tr>
              <a:tr h="1642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d10</a:t>
                      </a:r>
                    </a:p>
                  </a:txBody>
                  <a:tcPr marL="5529" marR="5529" marT="5529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92.3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3.66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3.68E+06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4.36E+06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3.98E+06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4.47E+06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7536777"/>
                  </a:ext>
                </a:extLst>
              </a:tr>
              <a:tr h="1642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d14</a:t>
                      </a:r>
                    </a:p>
                  </a:txBody>
                  <a:tcPr marL="5529" marR="5529" marT="5529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93.1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6.44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3.12E+06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3.33E+06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3.33E+06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3.55E+06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520033"/>
                  </a:ext>
                </a:extLst>
              </a:tr>
              <a:tr h="17056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d15</a:t>
                      </a:r>
                    </a:p>
                  </a:txBody>
                  <a:tcPr marL="5529" marR="5529" marT="5529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93.1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6.1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3.63E+06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4.37E+06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3.88E+06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4.46E+06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0847990"/>
                  </a:ext>
                </a:extLst>
              </a:tr>
              <a:tr h="1642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d16</a:t>
                      </a:r>
                    </a:p>
                  </a:txBody>
                  <a:tcPr marL="5529" marR="5529" marT="5529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93.3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5.65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3.61E+06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4.34E+06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3.86E+06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4.43E+06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9861794"/>
                  </a:ext>
                </a:extLst>
              </a:tr>
              <a:tr h="1642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d17</a:t>
                      </a:r>
                    </a:p>
                  </a:txBody>
                  <a:tcPr marL="5529" marR="5529" marT="5529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91.7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6.58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3.65E+06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4.44E+06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3.97E+06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4.57E+06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8198104"/>
                  </a:ext>
                </a:extLst>
              </a:tr>
              <a:tr h="1642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d18</a:t>
                      </a:r>
                    </a:p>
                  </a:txBody>
                  <a:tcPr marL="5529" marR="5529" marT="5529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93.8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5.64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3.75E+06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4.50E+06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3.99E+06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4.60E+06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896935"/>
                  </a:ext>
                </a:extLst>
              </a:tr>
              <a:tr h="17056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d21</a:t>
                      </a:r>
                    </a:p>
                  </a:txBody>
                  <a:tcPr marL="5529" marR="5529" marT="5529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86.7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12.2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2.90E+06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2.99E+06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3.32E+06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3.53E+06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951484"/>
                  </a:ext>
                </a:extLst>
              </a:tr>
              <a:tr h="1642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d22</a:t>
                      </a:r>
                    </a:p>
                  </a:txBody>
                  <a:tcPr marL="5529" marR="5529" marT="5529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88.4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10.6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3.11E+06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3.34E+06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3.50E+06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3.89E+06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640665"/>
                  </a:ext>
                </a:extLst>
              </a:tr>
              <a:tr h="1642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d23</a:t>
                      </a:r>
                    </a:p>
                  </a:txBody>
                  <a:tcPr marL="5529" marR="5529" marT="5529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88.8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10.4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3.32E+06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3.91E+06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3.71E+06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4.35E+06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52480"/>
                  </a:ext>
                </a:extLst>
              </a:tr>
              <a:tr h="1642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d24</a:t>
                      </a:r>
                    </a:p>
                  </a:txBody>
                  <a:tcPr marL="5529" marR="5529" marT="5529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89.4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9.96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3.32E+06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3.89E+06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3.70E+06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4.37E+06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911971"/>
                  </a:ext>
                </a:extLst>
              </a:tr>
              <a:tr h="1642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d25</a:t>
                      </a:r>
                    </a:p>
                  </a:txBody>
                  <a:tcPr marL="5529" marR="5529" marT="5529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88.6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10.6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3.31E+06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3.93E+06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3.71E+06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4.37E+06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2115068"/>
                  </a:ext>
                </a:extLst>
              </a:tr>
              <a:tr h="17056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d26</a:t>
                      </a:r>
                    </a:p>
                  </a:txBody>
                  <a:tcPr marL="5529" marR="5529" marT="5529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83.4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15.9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2.42E+06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2.10E+06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2.86E+06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2.63E+06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189483"/>
                  </a:ext>
                </a:extLst>
              </a:tr>
              <a:tr h="1642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d29</a:t>
                      </a:r>
                    </a:p>
                  </a:txBody>
                  <a:tcPr marL="5529" marR="5529" marT="5529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83.3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15.8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2.90E+06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2.97E+06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3.45E+06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3.81E+06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465494"/>
                  </a:ext>
                </a:extLst>
              </a:tr>
              <a:tr h="1642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d31</a:t>
                      </a:r>
                    </a:p>
                  </a:txBody>
                  <a:tcPr marL="5529" marR="5529" marT="5529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76.7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22.4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2.51E+06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2.38E+06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3.24E+06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3.36E+06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103217"/>
                  </a:ext>
                </a:extLst>
              </a:tr>
              <a:tr h="1642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d35</a:t>
                      </a:r>
                    </a:p>
                  </a:txBody>
                  <a:tcPr marL="5529" marR="5529" marT="5529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78.3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21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2.55E+06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2.34E+06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3.21E+06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3.29E+06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6524747"/>
                  </a:ext>
                </a:extLst>
              </a:tr>
              <a:tr h="1642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d36</a:t>
                      </a:r>
                    </a:p>
                  </a:txBody>
                  <a:tcPr marL="5529" marR="5529" marT="5529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74.5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24.4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2.34E+06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1.97E+06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3.09E+06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3.09E+06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182886"/>
                  </a:ext>
                </a:extLst>
              </a:tr>
              <a:tr h="17056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d38</a:t>
                      </a:r>
                    </a:p>
                  </a:txBody>
                  <a:tcPr marL="5529" marR="5529" marT="5529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72.4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26.8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2.24E+06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1.82E+06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3.04E+06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2.98E+06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429659"/>
                  </a:ext>
                </a:extLst>
              </a:tr>
              <a:tr h="17056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d43</a:t>
                      </a:r>
                    </a:p>
                  </a:txBody>
                  <a:tcPr marL="5529" marR="5529" marT="5529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70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29.1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2.26E+06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1.85E+06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3.17E+06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3.29E+06</a:t>
                      </a: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431814"/>
                  </a:ext>
                </a:extLst>
              </a:tr>
              <a:tr h="1642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d45</a:t>
                      </a:r>
                    </a:p>
                  </a:txBody>
                  <a:tcPr marL="5529" marR="5529" marT="5529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5529" marR="5529" marT="5529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5E6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3806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4524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8029F-CE76-E165-1481-B18BAD7C6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A1706-32AB-7B20-4F63-A8A94B5C8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Episome </a:t>
            </a:r>
            <a:r>
              <a:rPr lang="fr-FR" dirty="0" err="1"/>
              <a:t>loss</a:t>
            </a:r>
            <a:r>
              <a:rPr lang="fr-FR" dirty="0"/>
              <a:t> </a:t>
            </a:r>
            <a:r>
              <a:rPr lang="fr-FR" dirty="0" err="1"/>
              <a:t>experiment</a:t>
            </a:r>
            <a:r>
              <a:rPr lang="fr-FR" dirty="0"/>
              <a:t> on non-</a:t>
            </a:r>
            <a:r>
              <a:rPr lang="fr-FR" dirty="0" err="1"/>
              <a:t>selected</a:t>
            </a:r>
            <a:r>
              <a:rPr lang="fr-FR" dirty="0"/>
              <a:t> Brk.219</a:t>
            </a:r>
            <a:endParaRPr lang="en-US" dirty="0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CAAA9781-570B-5746-84B5-7AFD702EB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372" y="959969"/>
            <a:ext cx="11200502" cy="9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Aim</a:t>
            </a:r>
            <a:r>
              <a:rPr kumimoji="0" lang="en-US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: determine the rate of episome loss in BrK.219 when selection is removed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11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Experiment</a:t>
            </a:r>
            <a:r>
              <a: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: count cells and stain for Live/Dead before checking the GFP level everyday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11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Conditions</a:t>
            </a:r>
            <a:r>
              <a: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: puromycin selection removed on d0 and keeping in culture, starting at 10^5 and passaging when &gt;10^6, collecting, counting, staining and fixing everyday for flow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11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Results</a:t>
            </a:r>
            <a:r>
              <a: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: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A47C43-FF49-B392-BD7D-526DC7878DFD}"/>
              </a:ext>
            </a:extLst>
          </p:cNvPr>
          <p:cNvSpPr txBox="1"/>
          <p:nvPr/>
        </p:nvSpPr>
        <p:spPr>
          <a:xfrm>
            <a:off x="0" y="6611779"/>
            <a:ext cx="12747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9Mar to 21Apr2026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2C18ABA-F1A7-D731-9573-1995CB5047E4}"/>
              </a:ext>
            </a:extLst>
          </p:cNvPr>
          <p:cNvGraphicFramePr>
            <a:graphicFrameLocks/>
          </p:cNvGraphicFramePr>
          <p:nvPr/>
        </p:nvGraphicFramePr>
        <p:xfrm>
          <a:off x="1518768" y="1746621"/>
          <a:ext cx="9203265" cy="48651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80032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60518-2FEA-88DF-EB72-2224BA0E2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7009F-5B0C-01E4-4EED-24C52624D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Episome </a:t>
            </a:r>
            <a:r>
              <a:rPr lang="fr-FR" dirty="0" err="1"/>
              <a:t>loss</a:t>
            </a:r>
            <a:r>
              <a:rPr lang="fr-FR" dirty="0"/>
              <a:t> </a:t>
            </a:r>
            <a:r>
              <a:rPr lang="fr-FR" dirty="0" err="1"/>
              <a:t>experiment</a:t>
            </a:r>
            <a:r>
              <a:rPr lang="fr-FR" dirty="0"/>
              <a:t> on non-</a:t>
            </a:r>
            <a:r>
              <a:rPr lang="fr-FR" dirty="0" err="1"/>
              <a:t>selected</a:t>
            </a:r>
            <a:r>
              <a:rPr lang="fr-FR" dirty="0"/>
              <a:t> Brk.219</a:t>
            </a:r>
            <a:endParaRPr lang="en-US" dirty="0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DA238322-BA2F-618C-2387-CB528E983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372" y="959969"/>
            <a:ext cx="11200502" cy="9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Aim</a:t>
            </a:r>
            <a:r>
              <a:rPr kumimoji="0" lang="en-US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: determine the rate of episome loss in BrK.219 when selection is removed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11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Experiment</a:t>
            </a:r>
            <a:r>
              <a: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: count cells and stain for Live/Dead before checking the GFP level everyday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11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Conditions</a:t>
            </a:r>
            <a:r>
              <a: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: puromycin selection removed on d0 and keeping in culture, starting at 10^5 and passaging when &gt;10^6, collecting, counting, staining and fixing everyday for flow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11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Results</a:t>
            </a:r>
            <a:r>
              <a: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: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DBBE53-B803-F19E-302A-D9ACCF9DE6BD}"/>
              </a:ext>
            </a:extLst>
          </p:cNvPr>
          <p:cNvSpPr txBox="1"/>
          <p:nvPr/>
        </p:nvSpPr>
        <p:spPr>
          <a:xfrm>
            <a:off x="0" y="6611779"/>
            <a:ext cx="12747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9Mar to 21Apr2026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8EEADC0E-CAAF-A250-D4AA-4194F5EE1BA6}"/>
              </a:ext>
            </a:extLst>
          </p:cNvPr>
          <p:cNvGraphicFramePr>
            <a:graphicFrameLocks/>
          </p:cNvGraphicFramePr>
          <p:nvPr/>
        </p:nvGraphicFramePr>
        <p:xfrm>
          <a:off x="112372" y="2020616"/>
          <a:ext cx="59436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06CD340-99A1-8D9E-BABF-A3DE03370BAA}"/>
              </a:ext>
            </a:extLst>
          </p:cNvPr>
          <p:cNvGraphicFramePr>
            <a:graphicFrameLocks/>
          </p:cNvGraphicFramePr>
          <p:nvPr/>
        </p:nvGraphicFramePr>
        <p:xfrm>
          <a:off x="6055972" y="2020616"/>
          <a:ext cx="59436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21206888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_J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eme_JT" id="{67E57ECA-E8BD-4B63-8EEA-21CA3886A3E8}" vid="{8A81A6D3-B419-4A1B-9667-1EF2B1504FF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970</Words>
  <Application>Microsoft Office PowerPoint</Application>
  <PresentationFormat>Widescreen</PresentationFormat>
  <Paragraphs>365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Franklin Gothic Book</vt:lpstr>
      <vt:lpstr>Franklin Gothic Medium</vt:lpstr>
      <vt:lpstr>Wingdings</vt:lpstr>
      <vt:lpstr>Theme_JT</vt:lpstr>
      <vt:lpstr>Episome loss experiment on non-selected Brk.219</vt:lpstr>
      <vt:lpstr>Episome loss experiment on non-selected Brk.219</vt:lpstr>
      <vt:lpstr>Episome loss experiment on non-selected Brk.219</vt:lpstr>
      <vt:lpstr>Episome loss experiment on non-selected Brk.219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Tram, Julie</dc:creator>
  <cp:lastModifiedBy>Tram, Julie</cp:lastModifiedBy>
  <cp:revision>1</cp:revision>
  <dcterms:created xsi:type="dcterms:W3CDTF">2026-04-21T22:27:00Z</dcterms:created>
  <dcterms:modified xsi:type="dcterms:W3CDTF">2026-04-21T22:27:58Z</dcterms:modified>
</cp:coreProperties>
</file>